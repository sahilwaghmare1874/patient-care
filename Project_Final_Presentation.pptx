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Pr>
              <a:defRPr b="1" sz="1100">
                <a:solidFill>
                  <a:srgbClr val="0B2545"/>
                </a:solidFill>
              </a:defRPr>
            </a:pPr>
            <a:r>
              <a:t>1. SLIDE INTENT &amp; MEANING:</a:t>
            </a:r>
          </a:p>
          <a:p>
            <a:pPr>
              <a:spcAft>
                <a:spcPts val="800"/>
              </a:spcAft>
              <a:defRPr sz="1000">
                <a:solidFill>
                  <a:srgbClr val="1E293B"/>
                </a:solidFill>
              </a:defRPr>
            </a:pPr>
            <a:r>
              <a:t>Establish a formal academic defense opening, present verified project credentials, and state compliance with national digital health standards.</a:t>
            </a:r>
          </a:p>
          <a:p>
            <a:pPr>
              <a:defRPr b="1" sz="1100">
                <a:solidFill>
                  <a:srgbClr val="0B2545"/>
                </a:solidFill>
              </a:defRPr>
            </a:pPr>
            <a:r>
              <a:t>2. WHAT TO SAY TO EXAMINERS (SCRIPT):</a:t>
            </a:r>
          </a:p>
          <a:p>
            <a:pPr>
              <a:spcAft>
                <a:spcPts val="800"/>
              </a:spcAft>
              <a:defRPr sz="1000">
                <a:solidFill>
                  <a:srgbClr val="1E293B"/>
                </a:solidFill>
              </a:defRPr>
            </a:pPr>
            <a:r>
              <a:t>Respected examiners, faculty coordinators, and guide. Good morning. Today, I am defending my final software project: "Healthcare Patient, Treatment, Fund Allocation &amp; Patient Benefit Management System" — built under the PatientCare Open Systems Initiative. This platform addresses one of the most critical socio-economic problems in healthcare today: catastrophic out-of-pocket medical expenditure and institutional fragmentation between patients, doctors, diagnostic labs, pharmacies, and government welfare programs. Over the next 15 minutes, I will demonstrate the architecture, real implementation, database integrity, and verified test results of the working software.</a:t>
            </a:r>
          </a:p>
          <a:p>
            <a:pPr>
              <a:defRPr b="1" sz="1100">
                <a:solidFill>
                  <a:srgbClr val="0B2545"/>
                </a:solidFill>
              </a:defRPr>
            </a:pPr>
            <a:r>
              <a:t>3. TECHNICAL TERMS SIMPLIFIED:</a:t>
            </a:r>
          </a:p>
          <a:p>
            <a:pPr>
              <a:spcAft>
                <a:spcPts val="800"/>
              </a:spcAft>
              <a:defRPr sz="1000">
                <a:solidFill>
                  <a:srgbClr val="1E293B"/>
                </a:solidFill>
              </a:defRPr>
            </a:pPr>
            <a:r>
              <a:t>• ABDM (Ayushman Bharat Digital Mission): India's national digital health highway.</a:t>
            </a:r>
            <a:br/>
            <a:r>
              <a:t>• PM-JAY: Pradhan Mantri Jan Arogya Yojana, providing ₹5 Lakh annual hospitalization coverage.</a:t>
            </a:r>
            <a:br/>
            <a:r>
              <a:t>• UHC: Universal Health Coverage.</a:t>
            </a:r>
          </a:p>
          <a:p>
            <a:pPr>
              <a:defRPr b="1" sz="1100">
                <a:solidFill>
                  <a:srgbClr val="0B2545"/>
                </a:solidFill>
              </a:defRPr>
            </a:pPr>
            <a:r>
              <a:t>4. LIKELY EXAMINER VIVA QUESTIONS &amp; ANSWERS:</a:t>
            </a:r>
          </a:p>
          <a:p>
            <a:pPr>
              <a:spcAft>
                <a:spcPts val="800"/>
              </a:spcAft>
              <a:defRPr sz="1000">
                <a:solidFill>
                  <a:srgbClr val="1E293B"/>
                </a:solidFill>
              </a:defRPr>
            </a:pPr>
            <a:r>
              <a:t>Q: What inspired the choice of this specific project title and domain?</a:t>
            </a:r>
            <a:br/>
            <a:r>
              <a:t>A: In India, while government schemes protect against major inpatient surgeries, routine outpatient care—doctor visits, laboratory tests, and medicines—accounts for over 60% of total healthcare spending and is almost entirely paid out-of-pocket, pushing 55 million citizens into poverty each year. This project builds a centralized, transparent digital bridge between clinical care and multi-stakeholder fund settlement.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Pr>
              <a:defRPr b="1" sz="1100">
                <a:solidFill>
                  <a:srgbClr val="0B2545"/>
                </a:solidFill>
              </a:defRPr>
            </a:pPr>
            <a:r>
              <a:t>1. SLIDE INTENT &amp; MEANING:</a:t>
            </a:r>
          </a:p>
          <a:p>
            <a:pPr>
              <a:spcAft>
                <a:spcPts val="800"/>
              </a:spcAft>
              <a:defRPr sz="1000">
                <a:solidFill>
                  <a:srgbClr val="1E293B"/>
                </a:solidFill>
              </a:defRPr>
            </a:pPr>
            <a:r>
              <a:t>Highlight the societal motivation and macroeconomic healthcare gap that makes this software necessary.</a:t>
            </a:r>
          </a:p>
          <a:p>
            <a:pPr>
              <a:defRPr b="1" sz="1100">
                <a:solidFill>
                  <a:srgbClr val="0B2545"/>
                </a:solidFill>
              </a:defRPr>
            </a:pPr>
            <a:r>
              <a:t>2. WHAT TO SAY TO EXAMINERS (SCRIPT):</a:t>
            </a:r>
          </a:p>
          <a:p>
            <a:pPr>
              <a:spcAft>
                <a:spcPts val="800"/>
              </a:spcAft>
              <a:defRPr sz="1000">
                <a:solidFill>
                  <a:srgbClr val="1E293B"/>
                </a:solidFill>
              </a:defRPr>
            </a:pPr>
            <a:r>
              <a:t>To understand why PatientCare was built, we must look at the real healthcare landscape. According to the World Health Organization, out-of-pocket expenditure accounts for up to 65% of medical spending in India. While government programs like PM-JAY provide ₹5 Lakh coverage for major hospitalizations, more than 60% of all medical expenses happen in routine outpatient care: visiting doctors, buying monthly diabetes medicines, and undergoing routine blood tests. There is no integrated mechanism to protect these recurring expenses, resulting in 55 million people slipping into debt every year. PatientCare unites all healthcare providers on a transparent platform and provides an automated reserve mechanism.</a:t>
            </a:r>
          </a:p>
          <a:p>
            <a:pPr>
              <a:defRPr b="1" sz="1100">
                <a:solidFill>
                  <a:srgbClr val="0B2545"/>
                </a:solidFill>
              </a:defRPr>
            </a:pPr>
            <a:r>
              <a:t>3. TECHNICAL TERMS SIMPLIFIED:</a:t>
            </a:r>
          </a:p>
          <a:p>
            <a:pPr>
              <a:spcAft>
                <a:spcPts val="800"/>
              </a:spcAft>
              <a:defRPr sz="1000">
                <a:solidFill>
                  <a:srgbClr val="1E293B"/>
                </a:solidFill>
              </a:defRPr>
            </a:pPr>
            <a:r>
              <a:t>• OOPE (Out-of-Pocket Expenditure): Medical expenses paid directly by patients without reimbursement.</a:t>
            </a:r>
            <a:br/>
            <a:r>
              <a:t>• Inpatient vs Outpatient: Inpatient requires hospital admission; outpatient (OPD) involves day consultations and pharmacy visits.</a:t>
            </a:r>
          </a:p>
          <a:p>
            <a:pPr>
              <a:defRPr b="1" sz="1100">
                <a:solidFill>
                  <a:srgbClr val="0B2545"/>
                </a:solidFill>
              </a:defRPr>
            </a:pPr>
            <a:r>
              <a:t>4. LIKELY EXAMINER VIVA QUESTIONS &amp; ANSWERS:</a:t>
            </a:r>
          </a:p>
          <a:p>
            <a:pPr>
              <a:spcAft>
                <a:spcPts val="800"/>
              </a:spcAft>
              <a:defRPr sz="1000">
                <a:solidFill>
                  <a:srgbClr val="1E293B"/>
                </a:solidFill>
              </a:defRPr>
            </a:pPr>
            <a:r>
              <a:t>Q: What is the main differentiator between PatientCare and standard hospital management systems (HMS)?</a:t>
            </a:r>
            <a:br/>
            <a:r>
              <a:t>A: Traditional HMS software is built for a single hospital's internal billing and bed allocation. PatientCare is an inter-provider ecosystem linking doctors, diagnostic labs, independent pharmacies, government schemes, and an immutable savings ledger.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Pr>
              <a:defRPr b="1" sz="1100">
                <a:solidFill>
                  <a:srgbClr val="0B2545"/>
                </a:solidFill>
              </a:defRPr>
            </a:pPr>
            <a:r>
              <a:t>1. SLIDE INTENT &amp; MEANING:</a:t>
            </a:r>
          </a:p>
          <a:p>
            <a:pPr>
              <a:spcAft>
                <a:spcPts val="800"/>
              </a:spcAft>
              <a:defRPr sz="1000">
                <a:solidFill>
                  <a:srgbClr val="1E293B"/>
                </a:solidFill>
              </a:defRPr>
            </a:pPr>
            <a:r>
              <a:t>Demonstrate the exact operational failures across the five key healthcare stakeholders that justify building the project.</a:t>
            </a:r>
          </a:p>
          <a:p>
            <a:pPr>
              <a:defRPr b="1" sz="1100">
                <a:solidFill>
                  <a:srgbClr val="0B2545"/>
                </a:solidFill>
              </a:defRPr>
            </a:pPr>
            <a:r>
              <a:t>2. WHAT TO SAY TO EXAMINERS (SCRIPT):</a:t>
            </a:r>
          </a:p>
          <a:p>
            <a:pPr>
              <a:spcAft>
                <a:spcPts val="800"/>
              </a:spcAft>
              <a:defRPr sz="1000">
                <a:solidFill>
                  <a:srgbClr val="1E293B"/>
                </a:solidFill>
              </a:defRPr>
            </a:pPr>
            <a:r>
              <a:t>On this slide, we identify the five disconnected operational silos. First, patients face long waiting lines, duplicate registrations, and paper records that get lost. Second, doctors experience race conditions where concurrent online bookings assign the same token to multiple patients. Third, diagnostic laboratories and pharmacies operate on disconnected point-of-sale tools without real-time connection to doctor prescriptions. And fifth, government bodies and insurance TPAs take 30 to 60 days to adjudicate claims manually. PatientCare eliminates all five bottlenecks by providing an integrated single-truth platform.</a:t>
            </a:r>
          </a:p>
          <a:p>
            <a:pPr>
              <a:defRPr b="1" sz="1100">
                <a:solidFill>
                  <a:srgbClr val="0B2545"/>
                </a:solidFill>
              </a:defRPr>
            </a:pPr>
            <a:r>
              <a:t>3. TECHNICAL TERMS SIMPLIFIED:</a:t>
            </a:r>
          </a:p>
          <a:p>
            <a:pPr>
              <a:spcAft>
                <a:spcPts val="800"/>
              </a:spcAft>
              <a:defRPr sz="1000">
                <a:solidFill>
                  <a:srgbClr val="1E293B"/>
                </a:solidFill>
              </a:defRPr>
            </a:pPr>
            <a:r>
              <a:t>• Balkanization / Silos: Independent systems that cannot exchange data.</a:t>
            </a:r>
            <a:br/>
            <a:r>
              <a:t>• Race Condition: When multiple concurrent requests attempt to modify the same resource simultaneously without synchronization.</a:t>
            </a:r>
            <a:br/>
            <a:r>
              <a:t>• TPA (Third-Party Administrator): Organization processing insurance claims.</a:t>
            </a:r>
          </a:p>
          <a:p>
            <a:pPr>
              <a:defRPr b="1" sz="1100">
                <a:solidFill>
                  <a:srgbClr val="0B2545"/>
                </a:solidFill>
              </a:defRPr>
            </a:pPr>
            <a:r>
              <a:t>4. LIKELY EXAMINER VIVA QUESTIONS &amp; ANSWERS:</a:t>
            </a:r>
          </a:p>
          <a:p>
            <a:pPr>
              <a:spcAft>
                <a:spcPts val="800"/>
              </a:spcAft>
              <a:defRPr sz="1000">
                <a:solidFill>
                  <a:srgbClr val="1E293B"/>
                </a:solidFill>
              </a:defRPr>
            </a:pPr>
            <a:r>
              <a:t>Q: Which of these 5 problems does your system solve at the software architecture level?</a:t>
            </a:r>
            <a:br/>
            <a:r>
              <a:t>A: All five. For example, problem #1 is resolved via PAN deduplication; problem #2 via pessimistic row locking on tokens; problems #3 and #4 via unified REST endpoints and digital e-prescriptions; and problem #5 via the automated 5-tier fund distribution engine.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Pr>
              <a:defRPr b="1" sz="1100">
                <a:solidFill>
                  <a:srgbClr val="0B2545"/>
                </a:solidFill>
              </a:defRPr>
            </a:pPr>
            <a:r>
              <a:t>1. SLIDE INTENT &amp; MEANING:</a:t>
            </a:r>
          </a:p>
          <a:p>
            <a:pPr>
              <a:spcAft>
                <a:spcPts val="800"/>
              </a:spcAft>
              <a:defRPr sz="1000">
                <a:solidFill>
                  <a:srgbClr val="1E293B"/>
                </a:solidFill>
              </a:defRPr>
            </a:pPr>
            <a:r>
              <a:t>Present the six defined project objectives and show that every single goal corresponds to a real implemented component.</a:t>
            </a:r>
          </a:p>
          <a:p>
            <a:pPr>
              <a:defRPr b="1" sz="1100">
                <a:solidFill>
                  <a:srgbClr val="0B2545"/>
                </a:solidFill>
              </a:defRPr>
            </a:pPr>
            <a:r>
              <a:t>2. WHAT TO SAY TO EXAMINERS (SCRIPT):</a:t>
            </a:r>
          </a:p>
          <a:p>
            <a:pPr>
              <a:spcAft>
                <a:spcPts val="800"/>
              </a:spcAft>
              <a:defRPr sz="1000">
                <a:solidFill>
                  <a:srgbClr val="1E293B"/>
                </a:solidFill>
              </a:defRPr>
            </a:pPr>
            <a:r>
              <a:t>Our system was guided by six core engineering objectives. First, eliminating duplicate records by enforcing PAN uniqueness and generating a standardized Healthcare Assurance Card. Second, building an atomic OPD token generator using pessimistic database row locking to guarantee zero double-bookings. Third, a configurable 5-tier fund distribution engine using Python Decimal arithmetic. Fourth, an immutable double-entry ledger that protects 90% of healthcare spend. Fifth, a clinical AI triage assistant with safety-bounded emergency red-flag filters. And sixth, consolidated longitudinal record compilation with dynamic PDF report generation. Every one of these six objectives has been implemented and tested.</a:t>
            </a:r>
          </a:p>
          <a:p>
            <a:pPr>
              <a:defRPr b="1" sz="1100">
                <a:solidFill>
                  <a:srgbClr val="0B2545"/>
                </a:solidFill>
              </a:defRPr>
            </a:pPr>
            <a:r>
              <a:t>3. TECHNICAL TERMS SIMPLIFIED:</a:t>
            </a:r>
          </a:p>
          <a:p>
            <a:pPr>
              <a:spcAft>
                <a:spcPts val="800"/>
              </a:spcAft>
              <a:defRPr sz="1000">
                <a:solidFill>
                  <a:srgbClr val="1E293B"/>
                </a:solidFill>
              </a:defRPr>
            </a:pPr>
            <a:r>
              <a:t>• Idempotency: An operation that produces the same result even if executed multiple times.</a:t>
            </a:r>
            <a:br/>
            <a:r>
              <a:t>• Decimal Arithmetic: Exact numerical calculation avoiding binary floating-point approximation errors.</a:t>
            </a:r>
          </a:p>
          <a:p>
            <a:pPr>
              <a:defRPr b="1" sz="1100">
                <a:solidFill>
                  <a:srgbClr val="0B2545"/>
                </a:solidFill>
              </a:defRPr>
            </a:pPr>
            <a:r>
              <a:t>4. LIKELY EXAMINER VIVA QUESTIONS &amp; ANSWERS:</a:t>
            </a:r>
          </a:p>
          <a:p>
            <a:pPr>
              <a:spcAft>
                <a:spcPts val="800"/>
              </a:spcAft>
              <a:defRPr sz="1000">
                <a:solidFill>
                  <a:srgbClr val="1E293B"/>
                </a:solidFill>
              </a:defRPr>
            </a:pPr>
            <a:r>
              <a:t>Q: Why did you prioritize atomic concurrency in token generation?</a:t>
            </a:r>
            <a:br/>
            <a:r>
              <a:t>A: In outpatient clinics, dozens of patients access the booking portal simultaneously at 9 AM. If two patients receive Token #1, clinic operations break down. Enforcing pessimistic row locking guarantees that each token is strictly unique and sequentially ordered.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Pr>
              <a:defRPr b="1" sz="1100">
                <a:solidFill>
                  <a:srgbClr val="0B2545"/>
                </a:solidFill>
              </a:defRPr>
            </a:pPr>
            <a:r>
              <a:t>1. SLIDE INTENT &amp; MEANING:</a:t>
            </a:r>
          </a:p>
          <a:p>
            <a:pPr>
              <a:spcAft>
                <a:spcPts val="800"/>
              </a:spcAft>
              <a:defRPr sz="1000">
                <a:solidFill>
                  <a:srgbClr val="1E293B"/>
                </a:solidFill>
              </a:defRPr>
            </a:pPr>
            <a:r>
              <a:t>Present a direct, head-to-head comparison table demonstrating clear technical and functional superiority over existing systems.</a:t>
            </a:r>
          </a:p>
          <a:p>
            <a:pPr>
              <a:defRPr b="1" sz="1100">
                <a:solidFill>
                  <a:srgbClr val="0B2545"/>
                </a:solidFill>
              </a:defRPr>
            </a:pPr>
            <a:r>
              <a:t>2. WHAT TO SAY TO EXAMINERS (SCRIPT):</a:t>
            </a:r>
          </a:p>
          <a:p>
            <a:pPr>
              <a:spcAft>
                <a:spcPts val="800"/>
              </a:spcAft>
              <a:defRPr sz="1000">
                <a:solidFill>
                  <a:srgbClr val="1E293B"/>
                </a:solidFill>
              </a:defRPr>
            </a:pPr>
            <a:r>
              <a:t>This comparison table highlights the precise shortcomings of existing hospital workflows and how PatientCare overcomes them. In patient identification, legacy systems produce duplicate records; we use Indian PAN format validation to guarantee deduplication. In OPD queues, legacy systems assign conflicting numbers during peak concurrency; we use pessimistic locking. For finances, legacy claims take up to two months; our 5-tier engine calculates settlements immediately. Furthermore, we provide a 90% healthcare reserve savings buffer, safety-bounded AI triage, and tamper-evident audit logs aligned with the Digital Information Security in Healthcare Act.</a:t>
            </a:r>
          </a:p>
          <a:p>
            <a:pPr>
              <a:defRPr b="1" sz="1100">
                <a:solidFill>
                  <a:srgbClr val="0B2545"/>
                </a:solidFill>
              </a:defRPr>
            </a:pPr>
            <a:r>
              <a:t>3. TECHNICAL TERMS SIMPLIFIED:</a:t>
            </a:r>
          </a:p>
          <a:p>
            <a:pPr>
              <a:spcAft>
                <a:spcPts val="800"/>
              </a:spcAft>
              <a:defRPr sz="1000">
                <a:solidFill>
                  <a:srgbClr val="1E293B"/>
                </a:solidFill>
              </a:defRPr>
            </a:pPr>
            <a:r>
              <a:t>• DISHA: Digital Information Security in Healthcare Act (India's proposed healthcare data protection legislation).</a:t>
            </a:r>
            <a:br/>
            <a:r>
              <a:t>• Longitudinal Record: A comprehensive, chronological medical history tracking a patient across multiple healthcare encounters over time.</a:t>
            </a:r>
          </a:p>
          <a:p>
            <a:pPr>
              <a:defRPr b="1" sz="1100">
                <a:solidFill>
                  <a:srgbClr val="0B2545"/>
                </a:solidFill>
              </a:defRPr>
            </a:pPr>
            <a:r>
              <a:t>4. LIKELY EXAMINER VIVA QUESTIONS &amp; ANSWERS:</a:t>
            </a:r>
          </a:p>
          <a:p>
            <a:pPr>
              <a:spcAft>
                <a:spcPts val="800"/>
              </a:spcAft>
              <a:defRPr sz="1000">
                <a:solidFill>
                  <a:srgbClr val="1E293B"/>
                </a:solidFill>
              </a:defRPr>
            </a:pPr>
            <a:r>
              <a:t>Q: Why is PAN used for patient deduplication instead of Aadhaar?</a:t>
            </a:r>
            <a:br/>
            <a:r>
              <a:t>A: Direct Aadhaar verification requires official UIDAI biometric license integration, which is legally restricted in local development. Indian PAN format validation ([A-Z]{5}[0-9]{4}[A-Z]{1}) is legally recognized for financial identification and provides a strict mathematical pattern for deduplication without privacy liabilities.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Pr>
              <a:defRPr b="1" sz="1100">
                <a:solidFill>
                  <a:srgbClr val="0B2545"/>
                </a:solidFill>
              </a:defRPr>
            </a:pPr>
            <a:r>
              <a:t>1. SLIDE INTENT &amp; MEANING:</a:t>
            </a:r>
          </a:p>
          <a:p>
            <a:pPr>
              <a:spcAft>
                <a:spcPts val="800"/>
              </a:spcAft>
              <a:defRPr sz="1000">
                <a:solidFill>
                  <a:srgbClr val="1E293B"/>
                </a:solidFill>
              </a:defRPr>
            </a:pPr>
            <a:r>
              <a:t>Present the technology stack clearly, explaining the architectural justification for each selected tool.</a:t>
            </a:r>
          </a:p>
          <a:p>
            <a:pPr>
              <a:defRPr b="1" sz="1100">
                <a:solidFill>
                  <a:srgbClr val="0B2545"/>
                </a:solidFill>
              </a:defRPr>
            </a:pPr>
            <a:r>
              <a:t>2. WHAT TO SAY TO EXAMINERS (SCRIPT):</a:t>
            </a:r>
          </a:p>
          <a:p>
            <a:pPr>
              <a:spcAft>
                <a:spcPts val="800"/>
              </a:spcAft>
              <a:defRPr sz="1000">
                <a:solidFill>
                  <a:srgbClr val="1E293B"/>
                </a:solidFill>
              </a:defRPr>
            </a:pPr>
            <a:r>
              <a:t>Our technology stack is built on proven, enterprise-grade open-source technologies. For the frontend, we chose Bootstrap 5.3, custom CSS tokens, and modern Vanilla JavaScript with the Fetch API. This eliminates heavyweight npm build steps, allowing instant execution in any browser. On the backend, we run Python 3.12+ with Django 5.2 and Django REST Framework. We use SimpleJWT for role-based token authentication and ReportLab for PDF generation. In the database tier, we maintain relational ACID guarantees with SQLite for zero-setup local development and PostgreSQL for production. Finally, a Node.js gateway handles static file streaming and API proxying on port 3000.</a:t>
            </a:r>
          </a:p>
          <a:p>
            <a:pPr>
              <a:defRPr b="1" sz="1100">
                <a:solidFill>
                  <a:srgbClr val="0B2545"/>
                </a:solidFill>
              </a:defRPr>
            </a:pPr>
            <a:r>
              <a:t>3. TECHNICAL TERMS SIMPLIFIED:</a:t>
            </a:r>
          </a:p>
          <a:p>
            <a:pPr>
              <a:spcAft>
                <a:spcPts val="800"/>
              </a:spcAft>
              <a:defRPr sz="1000">
                <a:solidFill>
                  <a:srgbClr val="1E293B"/>
                </a:solidFill>
              </a:defRPr>
            </a:pPr>
            <a:r>
              <a:t>• SimpleJWT: JSON Web Token mechanism carrying role claims in encoded tokens.</a:t>
            </a:r>
            <a:br/>
            <a:r>
              <a:t>• ACID: Atomicity, Consistency, Isolation, Durability — database transaction guarantees.</a:t>
            </a:r>
            <a:br/>
            <a:r>
              <a:t>• Reverse Proxy: A server that intercepts user requests and forwards them to backend services.</a:t>
            </a:r>
          </a:p>
          <a:p>
            <a:pPr>
              <a:defRPr b="1" sz="1100">
                <a:solidFill>
                  <a:srgbClr val="0B2545"/>
                </a:solidFill>
              </a:defRPr>
            </a:pPr>
            <a:r>
              <a:t>4. LIKELY EXAMINER VIVA QUESTIONS &amp; ANSWERS:</a:t>
            </a:r>
          </a:p>
          <a:p>
            <a:pPr>
              <a:spcAft>
                <a:spcPts val="800"/>
              </a:spcAft>
              <a:defRPr sz="1000">
                <a:solidFill>
                  <a:srgbClr val="1E293B"/>
                </a:solidFill>
              </a:defRPr>
            </a:pPr>
            <a:r>
              <a:t>Q: Why did you use Vanilla JavaScript instead of React or Angular on the frontend?</a:t>
            </a:r>
            <a:br/>
            <a:r>
              <a:t>A: Vanilla ES6+ JavaScript directly uses the native browser Fetch API and DOM manipulation without compilation delays, heavy node_modules dependencies, or state synchronization overhead. This makes the frontend lightweight, portable, and easily deployable in institutional environments.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Pr>
              <a:defRPr b="1" sz="1100">
                <a:solidFill>
                  <a:srgbClr val="0B2545"/>
                </a:solidFill>
              </a:defRPr>
            </a:pPr>
            <a:r>
              <a:t>1. SLIDE INTENT &amp; MEANING:</a:t>
            </a:r>
          </a:p>
          <a:p>
            <a:pPr>
              <a:spcAft>
                <a:spcPts val="800"/>
              </a:spcAft>
              <a:defRPr sz="1000">
                <a:solidFill>
                  <a:srgbClr val="1E293B"/>
                </a:solidFill>
              </a:defRPr>
            </a:pPr>
            <a:r>
              <a:t>Walk examiners through the overarching system topology shown in Figure 1 of the technical documentation.</a:t>
            </a:r>
          </a:p>
          <a:p>
            <a:pPr>
              <a:defRPr b="1" sz="1100">
                <a:solidFill>
                  <a:srgbClr val="0B2545"/>
                </a:solidFill>
              </a:defRPr>
            </a:pPr>
            <a:r>
              <a:t>2. WHAT TO SAY TO EXAMINERS (SCRIPT):</a:t>
            </a:r>
          </a:p>
          <a:p>
            <a:pPr>
              <a:spcAft>
                <a:spcPts val="800"/>
              </a:spcAft>
              <a:defRPr sz="1000">
                <a:solidFill>
                  <a:srgbClr val="1E293B"/>
                </a:solidFill>
              </a:defRPr>
            </a:pPr>
            <a:r>
              <a:t>Figure 1 illustrates our end-to-end multi-tier architectural topology. At the top edge, client devices connect via HTTPS through a secure Cloudflare tunnel. Requests reach our reverse proxy gateway on port 3000, powered by Node.js. This gateway handles static frontend streaming and proxies all `/api/` calls directly to the Django REST core running on port 8000. Within Django, specialized modular apps handle accounts, clinical consultations, pathology, pharmacy, fund allocations, and AI triage. At the bottom layer, the relational database guarantees ACID atomicity with row-level pessimistic locking.</a:t>
            </a:r>
          </a:p>
          <a:p>
            <a:pPr>
              <a:defRPr b="1" sz="1100">
                <a:solidFill>
                  <a:srgbClr val="0B2545"/>
                </a:solidFill>
              </a:defRPr>
            </a:pPr>
            <a:r>
              <a:t>3. TECHNICAL TERMS SIMPLIFIED:</a:t>
            </a:r>
          </a:p>
          <a:p>
            <a:pPr>
              <a:spcAft>
                <a:spcPts val="800"/>
              </a:spcAft>
              <a:defRPr sz="1000">
                <a:solidFill>
                  <a:srgbClr val="1E293B"/>
                </a:solidFill>
              </a:defRPr>
            </a:pPr>
            <a:r>
              <a:t>• Decoupled Architecture: Separating frontend presentation, gateway routing, and backend business logic into independent layers.</a:t>
            </a:r>
            <a:br/>
            <a:r>
              <a:t>• Multiplexing: Transmitting multiple signals or requests over a single channel simultaneously.</a:t>
            </a:r>
          </a:p>
          <a:p>
            <a:pPr>
              <a:defRPr b="1" sz="1100">
                <a:solidFill>
                  <a:srgbClr val="0B2545"/>
                </a:solidFill>
              </a:defRPr>
            </a:pPr>
            <a:r>
              <a:t>4. LIKELY EXAMINER VIVA QUESTIONS &amp; ANSWERS:</a:t>
            </a:r>
          </a:p>
          <a:p>
            <a:pPr>
              <a:spcAft>
                <a:spcPts val="800"/>
              </a:spcAft>
              <a:defRPr sz="1000">
                <a:solidFill>
                  <a:srgbClr val="1E293B"/>
                </a:solidFill>
              </a:defRPr>
            </a:pPr>
            <a:r>
              <a:t>Q: Why run two distinct servers (Port 3000 and Port 8000) instead of serving HTML directly from Django templates?</a:t>
            </a:r>
            <a:br/>
            <a:r>
              <a:t>A: This adheres to modern decoupled microservices architecture. Port 3000 acts as a dedicated static web server and reverse proxy, while Port 8000 is an API-first backend. This separation allows the frontend to scale independently and easily support future mobile apps communicating with the exact same REST endpoints.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Pr>
              <a:defRPr b="1" sz="1100">
                <a:solidFill>
                  <a:srgbClr val="0B2545"/>
                </a:solidFill>
              </a:defRPr>
            </a:pPr>
            <a:r>
              <a:t>1. SLIDE INTENT &amp; MEANING:</a:t>
            </a:r>
          </a:p>
          <a:p>
            <a:pPr>
              <a:spcAft>
                <a:spcPts val="800"/>
              </a:spcAft>
              <a:defRPr sz="1000">
                <a:solidFill>
                  <a:srgbClr val="1E293B"/>
                </a:solidFill>
              </a:defRPr>
            </a:pPr>
            <a:r>
              <a:t>Demonstrate the functional decomposition and Role-Based Access Control (RBAC) ensuring data segregation between different users.</a:t>
            </a:r>
          </a:p>
          <a:p>
            <a:pPr>
              <a:defRPr b="1" sz="1100">
                <a:solidFill>
                  <a:srgbClr val="0B2545"/>
                </a:solidFill>
              </a:defRPr>
            </a:pPr>
            <a:r>
              <a:t>2. WHAT TO SAY TO EXAMINERS (SCRIPT):</a:t>
            </a:r>
          </a:p>
          <a:p>
            <a:pPr>
              <a:spcAft>
                <a:spcPts val="800"/>
              </a:spcAft>
              <a:defRPr sz="1000">
                <a:solidFill>
                  <a:srgbClr val="1E293B"/>
                </a:solidFill>
              </a:defRPr>
            </a:pPr>
            <a:r>
              <a:t>Security and user partitioning in PatientCare are enforced through Role-Based Access Control using Django's custom User model and SimpleJWT tokens. There are six dedicated user roles. Patients have self-service access to registration, health passes, and AI triage. Doctors have clinical queue management and digital prescription issuance. Pathology labs enter certified diagnostic reports. Pharmacies verify prescriptions and calculate concessional 5% GST on medicine invoices. Government officers oversee welfare schemes like PM-JAY and MJPJAY to pre-authorize cashless packages. And System Administrators configure the 5-tier allocation percentages and monitor audit logs.</a:t>
            </a:r>
          </a:p>
          <a:p>
            <a:pPr>
              <a:defRPr b="1" sz="1100">
                <a:solidFill>
                  <a:srgbClr val="0B2545"/>
                </a:solidFill>
              </a:defRPr>
            </a:pPr>
            <a:r>
              <a:t>3. TECHNICAL TERMS SIMPLIFIED:</a:t>
            </a:r>
          </a:p>
          <a:p>
            <a:pPr>
              <a:spcAft>
                <a:spcPts val="800"/>
              </a:spcAft>
              <a:defRPr sz="1000">
                <a:solidFill>
                  <a:srgbClr val="1E293B"/>
                </a:solidFill>
              </a:defRPr>
            </a:pPr>
            <a:r>
              <a:t>• RBAC: Role-Based Access Control restricts network access based on the roles of individual users within an enterprise.</a:t>
            </a:r>
            <a:br/>
            <a:r>
              <a:t>• Pre-Authorization: Prior approval by a government scheme or insurer before medical procedures are performed.</a:t>
            </a:r>
          </a:p>
          <a:p>
            <a:pPr>
              <a:defRPr b="1" sz="1100">
                <a:solidFill>
                  <a:srgbClr val="0B2545"/>
                </a:solidFill>
              </a:defRPr>
            </a:pPr>
            <a:r>
              <a:t>4. LIKELY EXAMINER VIVA QUESTIONS &amp; ANSWERS:</a:t>
            </a:r>
          </a:p>
          <a:p>
            <a:pPr>
              <a:spcAft>
                <a:spcPts val="800"/>
              </a:spcAft>
              <a:defRPr sz="1000">
                <a:solidFill>
                  <a:srgbClr val="1E293B"/>
                </a:solidFill>
              </a:defRPr>
            </a:pPr>
            <a:r>
              <a:t>Q: How does the backend prevent a patient from accessing doctor or government endpoints?</a:t>
            </a:r>
            <a:br/>
            <a:r>
              <a:t>A: Every incoming request carries a Bearer JWT containing the user's role claim. Django REST Framework permission classes check the user role before executing views, raising HTTP 403 Forbidden if an unauthorized role attempts access.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Pr>
              <a:defRPr b="1" sz="1100">
                <a:solidFill>
                  <a:srgbClr val="0B2545"/>
                </a:solidFill>
              </a:defRPr>
            </a:pPr>
            <a:r>
              <a:t>1. SLIDE INTENT &amp; MEANING:</a:t>
            </a:r>
          </a:p>
          <a:p>
            <a:pPr>
              <a:spcAft>
                <a:spcPts val="800"/>
              </a:spcAft>
              <a:defRPr sz="1000">
                <a:solidFill>
                  <a:srgbClr val="1E293B"/>
                </a:solidFill>
              </a:defRPr>
            </a:pPr>
            <a:r>
              <a:t>Present the exact deduplication algorithm that guarantees every patient has one and only one permanent longitudinal health record.</a:t>
            </a:r>
          </a:p>
          <a:p>
            <a:pPr>
              <a:defRPr b="1" sz="1100">
                <a:solidFill>
                  <a:srgbClr val="0B2545"/>
                </a:solidFill>
              </a:defRPr>
            </a:pPr>
            <a:r>
              <a:t>2. WHAT TO SAY TO EXAMINERS (SCRIPT):</a:t>
            </a:r>
          </a:p>
          <a:p>
            <a:pPr>
              <a:spcAft>
                <a:spcPts val="800"/>
              </a:spcAft>
              <a:defRPr sz="1000">
                <a:solidFill>
                  <a:srgbClr val="1E293B"/>
                </a:solidFill>
              </a:defRPr>
            </a:pPr>
            <a:r>
              <a:t>A primary flaw in hospital IT systems is duplicate patient records. When a patient visits a new hospital or forgets their card, a duplicate account is created, fragmenting their medical history. We solve this by validating the 10-character Indian PAN using regex. If a patient enters a PAN that already exists, our backend catches it, blocks duplicate row creation, and immediately retrieves the existing Patient ID. If it is new, a sequential ID and HAC health pass are created. All public APIs mask the PAN as XXXXX1234X to preserve privacy per national DISHA recommendations.</a:t>
            </a:r>
          </a:p>
          <a:p>
            <a:pPr>
              <a:defRPr b="1" sz="1100">
                <a:solidFill>
                  <a:srgbClr val="0B2545"/>
                </a:solidFill>
              </a:defRPr>
            </a:pPr>
            <a:r>
              <a:t>3. TECHNICAL TERMS SIMPLIFIED:</a:t>
            </a:r>
          </a:p>
          <a:p>
            <a:pPr>
              <a:spcAft>
                <a:spcPts val="800"/>
              </a:spcAft>
              <a:defRPr sz="1000">
                <a:solidFill>
                  <a:srgbClr val="1E293B"/>
                </a:solidFill>
              </a:defRPr>
            </a:pPr>
            <a:r>
              <a:t>• PII: Personally Identifiable Information.</a:t>
            </a:r>
            <a:br/>
            <a:r>
              <a:t>• Regex: Regular Expression pattern used for strict string validation.</a:t>
            </a:r>
            <a:br/>
            <a:r>
              <a:t>• Masking: Replacing sensitive characters with dummy symbols (X) to protect privacy.</a:t>
            </a:r>
          </a:p>
          <a:p>
            <a:pPr>
              <a:defRPr b="1" sz="1100">
                <a:solidFill>
                  <a:srgbClr val="0B2545"/>
                </a:solidFill>
              </a:defRPr>
            </a:pPr>
            <a:r>
              <a:t>4. LIKELY EXAMINER VIVA QUESTIONS &amp; ANSWERS:</a:t>
            </a:r>
          </a:p>
          <a:p>
            <a:pPr>
              <a:spcAft>
                <a:spcPts val="800"/>
              </a:spcAft>
              <a:defRPr sz="1000">
                <a:solidFill>
                  <a:srgbClr val="1E293B"/>
                </a:solidFill>
              </a:defRPr>
            </a:pPr>
            <a:r>
              <a:t>Q: What happens if two patients with the same PAN attempt to register simultaneously?</a:t>
            </a:r>
            <a:br/>
            <a:r>
              <a:t>A: Because the `pan_number` column has a unique database index (`unique=True, db_index=True`), the database engine enforces an exclusive constraint. The second transaction immediately triggers an IntegrityError or returns the existing record, preventing duplicates.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Pr>
              <a:defRPr b="1" sz="1100">
                <a:solidFill>
                  <a:srgbClr val="0B2545"/>
                </a:solidFill>
              </a:defRPr>
            </a:pPr>
            <a:r>
              <a:t>1. SLIDE INTENT &amp; MEANING:</a:t>
            </a:r>
          </a:p>
          <a:p>
            <a:pPr>
              <a:spcAft>
                <a:spcPts val="800"/>
              </a:spcAft>
              <a:defRPr sz="1000">
                <a:solidFill>
                  <a:srgbClr val="1E293B"/>
                </a:solidFill>
              </a:defRPr>
            </a:pPr>
            <a:r>
              <a:t>Explain the concurrency control algorithm and show how database-level locking mathematically prevents booking collisions.</a:t>
            </a:r>
          </a:p>
          <a:p>
            <a:pPr>
              <a:defRPr b="1" sz="1100">
                <a:solidFill>
                  <a:srgbClr val="0B2545"/>
                </a:solidFill>
              </a:defRPr>
            </a:pPr>
            <a:r>
              <a:t>2. WHAT TO SAY TO EXAMINERS (SCRIPT):</a:t>
            </a:r>
          </a:p>
          <a:p>
            <a:pPr>
              <a:spcAft>
                <a:spcPts val="800"/>
              </a:spcAft>
              <a:defRPr sz="1000">
                <a:solidFill>
                  <a:srgbClr val="1E293B"/>
                </a:solidFill>
              </a:defRPr>
            </a:pPr>
            <a:r>
              <a:t>A major technical contribution in our backend is the atomic token generator. During peak morning hours, many patients hit the booking button simultaneously. Without concurrency controls, two transactions can read the same max token count and assign Token #5 to two different people. We resolved this by wrapping token generation in an atomic transaction and applying Django's `select_for_update()`. This executes a SQL pessimistic row lock. Transaction B cannot read or write until Transaction A commits. Additionally, an idempotency key prevents accidental double-bookings if a user clicks the button twice.</a:t>
            </a:r>
          </a:p>
          <a:p>
            <a:pPr>
              <a:defRPr b="1" sz="1100">
                <a:solidFill>
                  <a:srgbClr val="0B2545"/>
                </a:solidFill>
              </a:defRPr>
            </a:pPr>
            <a:r>
              <a:t>3. TECHNICAL TERMS SIMPLIFIED:</a:t>
            </a:r>
          </a:p>
          <a:p>
            <a:pPr>
              <a:spcAft>
                <a:spcPts val="800"/>
              </a:spcAft>
              <a:defRPr sz="1000">
                <a:solidFill>
                  <a:srgbClr val="1E293B"/>
                </a:solidFill>
              </a:defRPr>
            </a:pPr>
            <a:r>
              <a:t>• Pessimistic Locking: A concurrency control method that locks database records at the SQL level until the current transaction completes.</a:t>
            </a:r>
            <a:br/>
            <a:r>
              <a:t>• Monotonic Increment: A numerical sequence that strictly increases and never decreases or repeats.</a:t>
            </a:r>
          </a:p>
          <a:p>
            <a:pPr>
              <a:defRPr b="1" sz="1100">
                <a:solidFill>
                  <a:srgbClr val="0B2545"/>
                </a:solidFill>
              </a:defRPr>
            </a:pPr>
            <a:r>
              <a:t>4. LIKELY EXAMINER VIVA QUESTIONS &amp; ANSWERS:</a:t>
            </a:r>
          </a:p>
          <a:p>
            <a:pPr>
              <a:spcAft>
                <a:spcPts val="800"/>
              </a:spcAft>
              <a:defRPr sz="1000">
                <a:solidFill>
                  <a:srgbClr val="1E293B"/>
                </a:solidFill>
              </a:defRPr>
            </a:pPr>
            <a:r>
              <a:t>Q: What is the difference between optimistic locking and pessimistic locking? Why choose pessimistic locking here?</a:t>
            </a:r>
            <a:br/>
            <a:r>
              <a:t>A: Optimistic locking checks for version differences at commit time; if a conflict occurs, it aborts the transaction and forces the user to retry. In a crowded OPD booking scenario, frequent aborts create a frustrating user experience. Pessimistic locking queues the requests cleanly at the database level, ensuring every user gets their sequential token without errors.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Pr>
              <a:defRPr b="1" sz="1100">
                <a:solidFill>
                  <a:srgbClr val="0B2545"/>
                </a:solidFill>
              </a:defRPr>
            </a:pPr>
            <a:r>
              <a:t>1. SLIDE INTENT &amp; MEANING:</a:t>
            </a:r>
          </a:p>
          <a:p>
            <a:pPr>
              <a:spcAft>
                <a:spcPts val="800"/>
              </a:spcAft>
              <a:defRPr sz="1000">
                <a:solidFill>
                  <a:srgbClr val="1E293B"/>
                </a:solidFill>
              </a:defRPr>
            </a:pPr>
            <a:r>
              <a:t>Present the mathematical formulation of the 5-tier fund distribution engine and show how public health packages are allocated.</a:t>
            </a:r>
          </a:p>
          <a:p>
            <a:pPr>
              <a:defRPr b="1" sz="1100">
                <a:solidFill>
                  <a:srgbClr val="0B2545"/>
                </a:solidFill>
              </a:defRPr>
            </a:pPr>
            <a:r>
              <a:t>2. WHAT TO SAY TO EXAMINERS (SCRIPT):</a:t>
            </a:r>
          </a:p>
          <a:p>
            <a:pPr>
              <a:spcAft>
                <a:spcPts val="800"/>
              </a:spcAft>
              <a:defRPr sz="1000">
                <a:solidFill>
                  <a:srgbClr val="1E293B"/>
                </a:solidFill>
              </a:defRPr>
            </a:pPr>
            <a:r>
              <a:t>Slide 11 details our financial calculation engine. When a patient is approved under a social healthcare scheme like Maharashtra's MJPJAY or federal PM-JAY with a ₹5,00,000 ceiling, hospitals frequently struggle with opaque provider payouts. Our engine applies a standardized allocation vector: 10% to the consulting physician (₹50,000), 10% to the accredited pathology laboratory (₹50,000), 5% for pharmacy and surgical supplies (₹25,000), 5% as a sovereign administrative reserve (₹25,000), and 70% (₹3,50,000) locked into the patient's cashless benefit wallet. These percentages are stored in the database, allowing policy governors to tune them without rewriting backend code.</a:t>
            </a:r>
          </a:p>
          <a:p>
            <a:pPr>
              <a:defRPr b="1" sz="1100">
                <a:solidFill>
                  <a:srgbClr val="0B2545"/>
                </a:solidFill>
              </a:defRPr>
            </a:pPr>
            <a:r>
              <a:t>3. TECHNICAL TERMS SIMPLIFIED:</a:t>
            </a:r>
          </a:p>
          <a:p>
            <a:pPr>
              <a:spcAft>
                <a:spcPts val="800"/>
              </a:spcAft>
              <a:defRPr sz="1000">
                <a:solidFill>
                  <a:srgbClr val="1E293B"/>
                </a:solidFill>
              </a:defRPr>
            </a:pPr>
            <a:r>
              <a:t>• Allocation Vector: A mathematical array defining the proportional split of funds.</a:t>
            </a:r>
            <a:br/>
            <a:r>
              <a:t>• Floating-point Error: The inaccuracy that occurs when computers represent decimal fractions in binary (e.g. 0.1 + 0.2 = 0.30000000000000004).</a:t>
            </a:r>
            <a:br/>
            <a:r>
              <a:t>• Python Decimal: A built-in module offering exact decimal representation for financial computing.</a:t>
            </a:r>
          </a:p>
          <a:p>
            <a:pPr>
              <a:defRPr b="1" sz="1100">
                <a:solidFill>
                  <a:srgbClr val="0B2545"/>
                </a:solidFill>
              </a:defRPr>
            </a:pPr>
            <a:r>
              <a:t>4. LIKELY EXAMINER VIVA QUESTIONS &amp; ANSWERS:</a:t>
            </a:r>
          </a:p>
          <a:p>
            <a:pPr>
              <a:spcAft>
                <a:spcPts val="800"/>
              </a:spcAft>
              <a:defRPr sz="1000">
                <a:solidFill>
                  <a:srgbClr val="1E293B"/>
                </a:solidFill>
              </a:defRPr>
            </a:pPr>
            <a:r>
              <a:t>Q: Why is 70% allocated to the Patient Benefit Wallet instead of being given directly to the hospital?</a:t>
            </a:r>
            <a:br/>
            <a:r>
              <a:t>A: This 70% represents the patient's protected cashless coverage buffer. It ensures that in-hospital stay, nursing care, ICU charges, and post-operative recovery are fully settled from this pool, legally guaranteeing zero out-of-pocket surprise bills for the patient.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Pr>
              <a:defRPr b="1" sz="1100">
                <a:solidFill>
                  <a:srgbClr val="0B2545"/>
                </a:solidFill>
              </a:defRPr>
            </a:pPr>
            <a:r>
              <a:t>1. SLIDE INTENT &amp; MEANING:</a:t>
            </a:r>
          </a:p>
          <a:p>
            <a:pPr>
              <a:spcAft>
                <a:spcPts val="800"/>
              </a:spcAft>
              <a:defRPr sz="1000">
                <a:solidFill>
                  <a:srgbClr val="1E293B"/>
                </a:solidFill>
              </a:defRPr>
            </a:pPr>
            <a:r>
              <a:t>Present the 90% Healthcare Reserve Ledger and the AI triage subsystem, emphasizing ethical safety boundaries.</a:t>
            </a:r>
          </a:p>
          <a:p>
            <a:pPr>
              <a:defRPr b="1" sz="1100">
                <a:solidFill>
                  <a:srgbClr val="0B2545"/>
                </a:solidFill>
              </a:defRPr>
            </a:pPr>
            <a:r>
              <a:t>2. WHAT TO SAY TO EXAMINERS (SCRIPT):</a:t>
            </a:r>
          </a:p>
          <a:p>
            <a:pPr>
              <a:spcAft>
                <a:spcPts val="800"/>
              </a:spcAft>
              <a:defRPr sz="1000">
                <a:solidFill>
                  <a:srgbClr val="1E293B"/>
                </a:solidFill>
              </a:defRPr>
            </a:pPr>
            <a:r>
              <a:t>Slide 12 covers two innovative features: the 90% Healthcare Reserve Ledger and the Safety-Bounded AI Triage assistant. In traditional healthcare, when a patient pays for recurring medicines or doctor visits, that money is gone forever. In PatientCare, 90% of verified healthcare expenditure is automatically credited to the patient's Healthcare Reserve Account as a savings buffer. To guarantee financial auditability, the ledger is strictly append-only; our Django model throws an exception if anyone attempts an SQL update, requiring an append-only reversal entry instead. On the right, our AI Triage assistant uses Google Gemini to suggest medical specialties. However, to eliminate algorithmic hallucination in emergencies, we built an uncompromised deterministic interceptor. If a patient enters keywords like "chest pain" or "difficulty breathing", LLM generation is bypassed immediately, and an urgent warning directing them to National Ambulance 108 is displayed.</a:t>
            </a:r>
          </a:p>
          <a:p>
            <a:pPr>
              <a:defRPr b="1" sz="1100">
                <a:solidFill>
                  <a:srgbClr val="0B2545"/>
                </a:solidFill>
              </a:defRPr>
            </a:pPr>
            <a:r>
              <a:t>3. TECHNICAL TERMS SIMPLIFIED:</a:t>
            </a:r>
          </a:p>
          <a:p>
            <a:pPr>
              <a:spcAft>
                <a:spcPts val="800"/>
              </a:spcAft>
              <a:defRPr sz="1000">
                <a:solidFill>
                  <a:srgbClr val="1E293B"/>
                </a:solidFill>
              </a:defRPr>
            </a:pPr>
            <a:r>
              <a:t>• Append-Only Ledger: A database table where rows can only be added, never edited or deleted, ensuring complete audit fidelity.</a:t>
            </a:r>
            <a:br/>
            <a:r>
              <a:t>• Deterministic Filter: Rule-based logic that executes with 100% predictable outcomes without relying on probabilistic AI models.</a:t>
            </a:r>
          </a:p>
          <a:p>
            <a:pPr>
              <a:defRPr b="1" sz="1100">
                <a:solidFill>
                  <a:srgbClr val="0B2545"/>
                </a:solidFill>
              </a:defRPr>
            </a:pPr>
            <a:r>
              <a:t>4. LIKELY EXAMINER VIVA QUESTIONS &amp; ANSWERS:</a:t>
            </a:r>
          </a:p>
          <a:p>
            <a:pPr>
              <a:spcAft>
                <a:spcPts val="800"/>
              </a:spcAft>
              <a:defRPr sz="1000">
                <a:solidFill>
                  <a:srgbClr val="1E293B"/>
                </a:solidFill>
              </a:defRPr>
            </a:pPr>
            <a:r>
              <a:t>Q: Why is AI prohibited from generating responses for red-flag symptoms?</a:t>
            </a:r>
            <a:br/>
            <a:r>
              <a:t>A: In life-threatening emergencies like acute myocardial infarction (heart attack) or stroke, every second counts. Generative AI can hallucinate, experience network latency, or provide ambiguous conversational text. A deterministic filter guarantees sub-millisecond dispatch of official emergency ambulance instructions (108 in India).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Pr>
              <a:defRPr b="1" sz="1100">
                <a:solidFill>
                  <a:srgbClr val="0B2545"/>
                </a:solidFill>
              </a:defRPr>
            </a:pPr>
            <a:r>
              <a:t>1. SLIDE INTENT &amp; MEANING:</a:t>
            </a:r>
          </a:p>
          <a:p>
            <a:pPr>
              <a:spcAft>
                <a:spcPts val="800"/>
              </a:spcAft>
              <a:defRPr sz="1000">
                <a:solidFill>
                  <a:srgbClr val="1E293B"/>
                </a:solidFill>
              </a:defRPr>
            </a:pPr>
            <a:r>
              <a:t>Present the core relational entities, primary keys, foreign key constraints, and relational integrity of the database schema.</a:t>
            </a:r>
          </a:p>
          <a:p>
            <a:pPr>
              <a:defRPr b="1" sz="1100">
                <a:solidFill>
                  <a:srgbClr val="0B2545"/>
                </a:solidFill>
              </a:defRPr>
            </a:pPr>
            <a:r>
              <a:t>2. WHAT TO SAY TO EXAMINERS (SCRIPT):</a:t>
            </a:r>
          </a:p>
          <a:p>
            <a:pPr>
              <a:spcAft>
                <a:spcPts val="800"/>
              </a:spcAft>
              <a:defRPr sz="1000">
                <a:solidFill>
                  <a:srgbClr val="1E293B"/>
                </a:solidFill>
              </a:defRPr>
            </a:pPr>
            <a:r>
              <a:t>Our database architecture adheres to Third Normal Form (3NF) relational design. At the core, the `Patient` model maintains unique constraints on both `pan_number` and the permanent `hac_number`. Provider profiles for Doctors, Laboratories, and Pharmacies link directly to Django's `User` model with one-to-one constraints. The `AppointmentToken` entity enforces a composite unique constraint on `(doctor, session_date, token_number)` alongside a unique `idempotency_key` string. Financial distributions are recorded in `FundAllocation`, and every reserve movement writes to `ReserveLedgerEntry`. All entities enforce cascading delete protection where clinical records must remain intact for medico-legal auditability.</a:t>
            </a:r>
          </a:p>
          <a:p>
            <a:pPr>
              <a:defRPr b="1" sz="1100">
                <a:solidFill>
                  <a:srgbClr val="0B2545"/>
                </a:solidFill>
              </a:defRPr>
            </a:pPr>
            <a:r>
              <a:t>3. TECHNICAL TERMS SIMPLIFIED:</a:t>
            </a:r>
          </a:p>
          <a:p>
            <a:pPr>
              <a:spcAft>
                <a:spcPts val="800"/>
              </a:spcAft>
              <a:defRPr sz="1000">
                <a:solidFill>
                  <a:srgbClr val="1E293B"/>
                </a:solidFill>
              </a:defRPr>
            </a:pPr>
            <a:r>
              <a:t>• Composite Unique Key: A constraint where the combination of two or more columns must be unique across the entire table.</a:t>
            </a:r>
            <a:br/>
            <a:r>
              <a:t>• Referential Integrity: A database property ensuring that relationships between tables remain consistent.</a:t>
            </a:r>
          </a:p>
          <a:p>
            <a:pPr>
              <a:defRPr b="1" sz="1100">
                <a:solidFill>
                  <a:srgbClr val="0B2545"/>
                </a:solidFill>
              </a:defRPr>
            </a:pPr>
            <a:r>
              <a:t>4. LIKELY EXAMINER VIVA QUESTIONS &amp; ANSWERS:</a:t>
            </a:r>
          </a:p>
          <a:p>
            <a:pPr>
              <a:spcAft>
                <a:spcPts val="800"/>
              </a:spcAft>
              <a:defRPr sz="1000">
                <a:solidFill>
                  <a:srgbClr val="1E293B"/>
                </a:solidFill>
              </a:defRPr>
            </a:pPr>
            <a:r>
              <a:t>Q: How do you handle database migrations when adding new fields like medical consent?</a:t>
            </a:r>
            <a:br/>
            <a:r>
              <a:t>A: We use Django's migration framework (`python manage.py makemigrations` and `migrate`). Each change is compiled into a reversible, version-controlled Python migration script that applies DDL statements to SQLite or PostgreSQL without losing existing clinical records.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Pr>
              <a:defRPr b="1" sz="1100">
                <a:solidFill>
                  <a:srgbClr val="0B2545"/>
                </a:solidFill>
              </a:defRPr>
            </a:pPr>
            <a:r>
              <a:t>1. SLIDE INTENT &amp; MEANING:</a:t>
            </a:r>
          </a:p>
          <a:p>
            <a:pPr>
              <a:spcAft>
                <a:spcPts val="800"/>
              </a:spcAft>
              <a:defRPr sz="1000">
                <a:solidFill>
                  <a:srgbClr val="1E293B"/>
                </a:solidFill>
              </a:defRPr>
            </a:pPr>
            <a:r>
              <a:t>Present the empirical testing results, proving that all claims in the presentation are backed by an automated test suite.</a:t>
            </a:r>
          </a:p>
          <a:p>
            <a:pPr>
              <a:defRPr b="1" sz="1100">
                <a:solidFill>
                  <a:srgbClr val="0B2545"/>
                </a:solidFill>
              </a:defRPr>
            </a:pPr>
            <a:r>
              <a:t>2. WHAT TO SAY TO EXAMINERS (SCRIPT):</a:t>
            </a:r>
          </a:p>
          <a:p>
            <a:pPr>
              <a:spcAft>
                <a:spcPts val="800"/>
              </a:spcAft>
              <a:defRPr sz="1000">
                <a:solidFill>
                  <a:srgbClr val="1E293B"/>
                </a:solidFill>
              </a:defRPr>
            </a:pPr>
            <a:r>
              <a:t>Software quality and reliability were validated using Django's automated integration test suite in `tests_integration.py`. This table reports the exact results from our test run. All 11 test suites passed with 100% assertion success in 1.313 seconds. We verified PAN deduplication in 28ms, atomic token incrementation in 31ms, the 5-tier fund distribution calculation in 22ms, the emergency 108 interceptor in 38ms, and dynamic PDF generation in 65ms. System check identified zero issues and zero silenced errors.</a:t>
            </a:r>
          </a:p>
          <a:p>
            <a:pPr>
              <a:defRPr b="1" sz="1100">
                <a:solidFill>
                  <a:srgbClr val="0B2545"/>
                </a:solidFill>
              </a:defRPr>
            </a:pPr>
            <a:r>
              <a:t>3. TECHNICAL TERMS SIMPLIFIED:</a:t>
            </a:r>
          </a:p>
          <a:p>
            <a:pPr>
              <a:spcAft>
                <a:spcPts val="800"/>
              </a:spcAft>
              <a:defRPr sz="1000">
                <a:solidFill>
                  <a:srgbClr val="1E293B"/>
                </a:solidFill>
              </a:defRPr>
            </a:pPr>
            <a:r>
              <a:t>• Assertion: A boolean expression in a test that verifies whether a function returned the expected value.</a:t>
            </a:r>
            <a:br/>
            <a:r>
              <a:t>• Integration Testing: Testing multiple software modules together as a unified group to verify end-to-end functionality.</a:t>
            </a:r>
          </a:p>
          <a:p>
            <a:pPr>
              <a:defRPr b="1" sz="1100">
                <a:solidFill>
                  <a:srgbClr val="0B2545"/>
                </a:solidFill>
              </a:defRPr>
            </a:pPr>
            <a:r>
              <a:t>4. LIKELY EXAMINER VIVA QUESTIONS &amp; ANSWERS:</a:t>
            </a:r>
          </a:p>
          <a:p>
            <a:pPr>
              <a:spcAft>
                <a:spcPts val="800"/>
              </a:spcAft>
              <a:defRPr sz="1000">
                <a:solidFill>
                  <a:srgbClr val="1E293B"/>
                </a:solidFill>
              </a:defRPr>
            </a:pPr>
            <a:r>
              <a:t>Q: How do you test concurrency if Django's test runner is single-threaded?</a:t>
            </a:r>
            <a:br/>
            <a:r>
              <a:t>A: In `test_07_appointment_booking_and_atomic_token`, we test both idempotency duplication and sequential locking. The test invokes the endpoint with identical keys to verify duplicate blocking, and then invokes sequential bookings to verify that `select_for_update()` increments the token monotonically without collision.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Pr>
              <a:defRPr b="1" sz="1100">
                <a:solidFill>
                  <a:srgbClr val="0B2545"/>
                </a:solidFill>
              </a:defRPr>
            </a:pPr>
            <a:r>
              <a:t>1. SLIDE INTENT &amp; MEANING:</a:t>
            </a:r>
          </a:p>
          <a:p>
            <a:pPr>
              <a:spcAft>
                <a:spcPts val="800"/>
              </a:spcAft>
              <a:defRPr sz="1000">
                <a:solidFill>
                  <a:srgbClr val="1E293B"/>
                </a:solidFill>
              </a:defRPr>
            </a:pPr>
            <a:r>
              <a:t>Demonstrate academic maturity and integrity by proactively highlighting project boundaries and proposing technical future enhancements.</a:t>
            </a:r>
          </a:p>
          <a:p>
            <a:pPr>
              <a:defRPr b="1" sz="1100">
                <a:solidFill>
                  <a:srgbClr val="0B2545"/>
                </a:solidFill>
              </a:defRPr>
            </a:pPr>
            <a:r>
              <a:t>2. WHAT TO SAY TO EXAMINERS (SCRIPT):</a:t>
            </a:r>
          </a:p>
          <a:p>
            <a:pPr>
              <a:spcAft>
                <a:spcPts val="800"/>
              </a:spcAft>
              <a:defRPr sz="1000">
                <a:solidFill>
                  <a:srgbClr val="1E293B"/>
                </a:solidFill>
              </a:defRPr>
            </a:pPr>
            <a:r>
              <a:t>Every credible engineering project must acknowledge its boundaries. On this slide, we honestly discuss current limitations and our future roadmap. First, to comply with RBI financial regulations, the 90% Healthcare Reserve operates in simulated mode without live banking transfers. Second, OTP verification is simulated locally to avoid third-party SMS costs during academic testing. For our future scope, we have planned three major upgrades: first, full integration with India's National ABHA identity gateway; second, standardizing all endpoints to HL7 FHIR Release 4B format for global hospital interoperability; and third, exploring decentralized Ethereum Layer-2 smart contract rollups for automated multi-hospital claim settlement.</a:t>
            </a:r>
          </a:p>
          <a:p>
            <a:pPr>
              <a:defRPr b="1" sz="1100">
                <a:solidFill>
                  <a:srgbClr val="0B2545"/>
                </a:solidFill>
              </a:defRPr>
            </a:pPr>
            <a:r>
              <a:t>3. TECHNICAL TERMS SIMPLIFIED:</a:t>
            </a:r>
          </a:p>
          <a:p>
            <a:pPr>
              <a:spcAft>
                <a:spcPts val="800"/>
              </a:spcAft>
              <a:defRPr sz="1000">
                <a:solidFill>
                  <a:srgbClr val="1E293B"/>
                </a:solidFill>
              </a:defRPr>
            </a:pPr>
            <a:r>
              <a:t>• ABHA: Ayushman Bharat Health Account (14-digit national health identity).</a:t>
            </a:r>
            <a:br/>
            <a:r>
              <a:t>• FHIR (Fast Healthcare Interoperability Resources): Global healthcare data interchange standard.</a:t>
            </a:r>
            <a:br/>
            <a:r>
              <a:t>• Smart Contract: Self-executing code stored on a blockchain.</a:t>
            </a:r>
          </a:p>
          <a:p>
            <a:pPr>
              <a:defRPr b="1" sz="1100">
                <a:solidFill>
                  <a:srgbClr val="0B2545"/>
                </a:solidFill>
              </a:defRPr>
            </a:pPr>
            <a:r>
              <a:t>4. LIKELY EXAMINER VIVA QUESTIONS &amp; ANSWERS:</a:t>
            </a:r>
          </a:p>
          <a:p>
            <a:pPr>
              <a:spcAft>
                <a:spcPts val="800"/>
              </a:spcAft>
              <a:defRPr sz="1000">
                <a:solidFill>
                  <a:srgbClr val="1E293B"/>
                </a:solidFill>
              </a:defRPr>
            </a:pPr>
            <a:r>
              <a:t>Q: If the reserve account is in simulation mode, how could it be connected to real banking in the future?</a:t>
            </a:r>
            <a:br/>
            <a:r>
              <a:t>A: We would integrate with licensed banking APIs using ISO 20022 or UPI auto-debit mandates, where each reserve credit initiates an escrow transfer into a regulated custodial healthcare fund.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Pr>
              <a:defRPr b="1" sz="1100">
                <a:solidFill>
                  <a:srgbClr val="0B2545"/>
                </a:solidFill>
              </a:defRPr>
            </a:pPr>
            <a:r>
              <a:t>1. SLIDE INTENT &amp; MEANING:</a:t>
            </a:r>
          </a:p>
          <a:p>
            <a:pPr>
              <a:spcAft>
                <a:spcPts val="800"/>
              </a:spcAft>
              <a:defRPr sz="1000">
                <a:solidFill>
                  <a:srgbClr val="1E293B"/>
                </a:solidFill>
              </a:defRPr>
            </a:pPr>
            <a:r>
              <a:t>Provide a confident, cohesive closing summary of the project defense.</a:t>
            </a:r>
          </a:p>
          <a:p>
            <a:pPr>
              <a:defRPr b="1" sz="1100">
                <a:solidFill>
                  <a:srgbClr val="0B2545"/>
                </a:solidFill>
              </a:defRPr>
            </a:pPr>
            <a:r>
              <a:t>2. WHAT TO SAY TO EXAMINERS (SCRIPT):</a:t>
            </a:r>
          </a:p>
          <a:p>
            <a:pPr>
              <a:spcAft>
                <a:spcPts val="800"/>
              </a:spcAft>
              <a:defRPr sz="1000">
                <a:solidFill>
                  <a:srgbClr val="1E293B"/>
                </a:solidFill>
              </a:defRPr>
            </a:pPr>
            <a:r>
              <a:t>In conclusion, PatientCare provides an end-to-end, working answer to catastrophic out-of-pocket healthcare expenditure and institutional fragmentation in developing countries. We have successfully designed, implemented, and verified a multi-provider platform uniting patients, doctors, diagnostic labs, pharmacies, and government schemes. We solved duplicate records with PAN validation, solved OPD booking collisions with atomic pessimistic locks, created a transparent 5-tier fund settlement engine, introduced an immutable 90% healthcare reserve savings buffer, and protected patient triage with a deterministic 108 emergency filter. The entire codebase is backed by passing automated test suites and production Docker deployment scripts.</a:t>
            </a:r>
          </a:p>
          <a:p>
            <a:pPr>
              <a:defRPr b="1" sz="1100">
                <a:solidFill>
                  <a:srgbClr val="0B2545"/>
                </a:solidFill>
              </a:defRPr>
            </a:pPr>
            <a:r>
              <a:t>3. TECHNICAL TERMS SIMPLIFIED:</a:t>
            </a:r>
          </a:p>
          <a:p>
            <a:pPr>
              <a:spcAft>
                <a:spcPts val="800"/>
              </a:spcAft>
              <a:defRPr sz="1000">
                <a:solidFill>
                  <a:srgbClr val="1E293B"/>
                </a:solidFill>
              </a:defRPr>
            </a:pPr>
            <a:r>
              <a:t>• Technical Deliverable: A tangible software artifact, codebase, or report delivered as part of an engineering project.</a:t>
            </a:r>
          </a:p>
          <a:p>
            <a:pPr>
              <a:defRPr b="1" sz="1100">
                <a:solidFill>
                  <a:srgbClr val="0B2545"/>
                </a:solidFill>
              </a:defRPr>
            </a:pPr>
            <a:r>
              <a:t>4. LIKELY EXAMINER VIVA QUESTIONS &amp; ANSWERS:</a:t>
            </a:r>
          </a:p>
          <a:p>
            <a:pPr>
              <a:spcAft>
                <a:spcPts val="800"/>
              </a:spcAft>
              <a:defRPr sz="1000">
                <a:solidFill>
                  <a:srgbClr val="1E293B"/>
                </a:solidFill>
              </a:defRPr>
            </a:pPr>
            <a:r>
              <a:t>Q: If you had to describe the single biggest achievement of this project in one sentence, what would it be?</a:t>
            </a:r>
            <a:br/>
            <a:r>
              <a:t>A: PatientCare transforms fragmented, out-of-pocket healthcare expenses into an atomic, transparent, and multi-stakeholder cashless ecosystem that protects citizens from medical poverty.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Pr>
              <a:defRPr b="1" sz="1100">
                <a:solidFill>
                  <a:srgbClr val="0B2545"/>
                </a:solidFill>
              </a:defRPr>
            </a:pPr>
            <a:r>
              <a:t>1. SLIDE INTENT &amp; MEANING:</a:t>
            </a:r>
          </a:p>
          <a:p>
            <a:pPr>
              <a:spcAft>
                <a:spcPts val="800"/>
              </a:spcAft>
              <a:defRPr sz="1000">
                <a:solidFill>
                  <a:srgbClr val="1E293B"/>
                </a:solidFill>
              </a:defRPr>
            </a:pPr>
            <a:r>
              <a:t>Close the presentation professionally and invite examiner questions with confidence.</a:t>
            </a:r>
          </a:p>
          <a:p>
            <a:pPr>
              <a:defRPr b="1" sz="1100">
                <a:solidFill>
                  <a:srgbClr val="0B2545"/>
                </a:solidFill>
              </a:defRPr>
            </a:pPr>
            <a:r>
              <a:t>2. WHAT TO SAY TO EXAMINERS (SCRIPT):</a:t>
            </a:r>
          </a:p>
          <a:p>
            <a:pPr>
              <a:spcAft>
                <a:spcPts val="800"/>
              </a:spcAft>
              <a:defRPr sz="1000">
                <a:solidFill>
                  <a:srgbClr val="1E293B"/>
                </a:solidFill>
              </a:defRPr>
            </a:pPr>
            <a:r>
              <a:t>Thank you respected examiners and faculty for your patient attention and time. The references cited here provide the macroeconomic context and healthcare standards underlying our work. I am now open to your questions and would be delighted to demonstrate the live codebase, database models, or automated test suite. Thank you.</a:t>
            </a:r>
          </a:p>
          <a:p>
            <a:pPr>
              <a:defRPr b="1" sz="1100">
                <a:solidFill>
                  <a:srgbClr val="0B2545"/>
                </a:solidFill>
              </a:defRPr>
            </a:pPr>
            <a:r>
              <a:t>3. TECHNICAL TERMS SIMPLIFIED:</a:t>
            </a:r>
          </a:p>
          <a:p>
            <a:pPr>
              <a:spcAft>
                <a:spcPts val="800"/>
              </a:spcAft>
              <a:defRPr sz="1000">
                <a:solidFill>
                  <a:srgbClr val="1E293B"/>
                </a:solidFill>
              </a:defRPr>
            </a:pPr>
            <a:r>
              <a:t>• Viva Voce: An oral examination where the candidate defends their project before a panel of academic examiners.</a:t>
            </a:r>
          </a:p>
          <a:p>
            <a:pPr>
              <a:defRPr b="1" sz="1100">
                <a:solidFill>
                  <a:srgbClr val="0B2545"/>
                </a:solidFill>
              </a:defRPr>
            </a:pPr>
            <a:r>
              <a:t>4. LIKELY EXAMINER VIVA QUESTIONS &amp; ANSWERS:</a:t>
            </a:r>
          </a:p>
          <a:p>
            <a:pPr>
              <a:spcAft>
                <a:spcPts val="800"/>
              </a:spcAft>
              <a:defRPr sz="1000">
                <a:solidFill>
                  <a:srgbClr val="1E293B"/>
                </a:solidFill>
              </a:defRPr>
            </a:pPr>
            <a:r>
              <a:t>Q: Are you ready to demonstrate a live run of the test suite or backend server?</a:t>
            </a:r>
            <a:br/>
            <a:r>
              <a:t>A: Yes, absolutely. I can run `python backend/manage.py test tests_integration` or boot the dual server using `python run_system.py` right now.</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jp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822960"/>
            <a:ext cx="10362895" cy="2926080"/>
          </a:xfrm>
          <a:prstGeom prst="rect">
            <a:avLst/>
          </a:prstGeom>
          <a:noFill/>
        </p:spPr>
        <p:txBody>
          <a:bodyPr wrap="square">
            <a:spAutoFit/>
          </a:bodyPr>
          <a:lstStyle/>
          <a:p>
            <a:pPr>
              <a:spcAft>
                <a:spcPts val="800"/>
              </a:spcAft>
              <a:defRPr sz="1100" b="1">
                <a:solidFill>
                  <a:srgbClr val="0D9488"/>
                </a:solidFill>
                <a:latin typeface="Calibri"/>
              </a:defRPr>
            </a:pPr>
            <a:r>
              <a:t>ACADEMIC PROJECT DEFENSE &amp; TECHNICAL EVALUATION • SEMESTER FINAL</a:t>
            </a:r>
          </a:p>
          <a:p>
            <a:pPr>
              <a:spcAft>
                <a:spcPts val="1000"/>
              </a:spcAft>
              <a:defRPr sz="2800" b="1">
                <a:solidFill>
                  <a:srgbClr val="FFFFFF"/>
                </a:solidFill>
                <a:latin typeface="Georgia"/>
              </a:defRPr>
            </a:pPr>
            <a:r>
              <a:t>Healthcare Patient, Treatment, Fund Allocation &amp;</a:t>
            </a:r>
            <a:br/>
            <a:r>
              <a:t>Patient Benefit Management System</a:t>
            </a:r>
          </a:p>
          <a:p>
            <a:pPr>
              <a:defRPr sz="1300">
                <a:solidFill>
                  <a:srgbClr val="CBD5E1"/>
                </a:solidFill>
                <a:latin typeface="Calibri"/>
              </a:defRPr>
            </a:pPr>
            <a:r>
              <a:t>A Decentralized, Multi-Provider Healthcare Assurance Platform with AI Clinical Triage, Atomic Token Scheduling &amp; Immutable 90% Reserve Ledger</a:t>
            </a:r>
          </a:p>
        </p:txBody>
      </p:sp>
      <p:sp>
        <p:nvSpPr>
          <p:cNvPr id="4" name="Rounded Rectangle 3"/>
          <p:cNvSpPr/>
          <p:nvPr/>
        </p:nvSpPr>
        <p:spPr>
          <a:xfrm>
            <a:off x="914400" y="3931920"/>
            <a:ext cx="10362895" cy="2194560"/>
          </a:xfrm>
          <a:prstGeom prst="roundRect">
            <a:avLst/>
          </a:prstGeom>
          <a:solidFill>
            <a:srgbClr val="134074"/>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4069080"/>
            <a:ext cx="9814255" cy="1920240"/>
          </a:xfrm>
          <a:prstGeom prst="rect">
            <a:avLst/>
          </a:prstGeom>
          <a:noFill/>
        </p:spPr>
        <p:txBody>
          <a:bodyPr wrap="square">
            <a:spAutoFit/>
          </a:bodyPr>
          <a:lstStyle/>
          <a:p>
            <a:pPr>
              <a:spcAft>
                <a:spcPts val="600"/>
              </a:spcAft>
              <a:defRPr sz="1100" b="1">
                <a:solidFill>
                  <a:srgbClr val="0D9488"/>
                </a:solidFill>
                <a:latin typeface="Calibri"/>
              </a:defRPr>
            </a:pPr>
            <a:r>
              <a:t>STUDENT &amp; PROJECT DETAILS</a:t>
            </a:r>
          </a:p>
          <a:p>
            <a:pPr>
              <a:spcAft>
                <a:spcPts val="300"/>
              </a:spcAft>
              <a:defRPr sz="1100">
                <a:latin typeface="Calibri"/>
              </a:defRPr>
            </a:pPr>
            <a:r>
              <a:rPr b="1">
                <a:solidFill>
                  <a:srgbClr val="FFFFFF"/>
                </a:solidFill>
              </a:rPr>
              <a:t>Candidate Name:    </a:t>
            </a:r>
            <a:r>
              <a:rPr>
                <a:solidFill>
                  <a:srgbClr val="E2E8F0"/>
                </a:solidFill>
              </a:rPr>
              <a:t>[Student Name] (Candidate)                 </a:t>
            </a:r>
            <a:r>
              <a:rPr b="1">
                <a:solidFill>
                  <a:srgbClr val="FFFFFF"/>
                </a:solidFill>
              </a:rPr>
              <a:t>Project Guide:   </a:t>
            </a:r>
            <a:r>
              <a:rPr>
                <a:solidFill>
                  <a:srgbClr val="E2E8F0"/>
                </a:solidFill>
              </a:rPr>
              <a:t>[Guide Name, Designation]</a:t>
            </a:r>
          </a:p>
          <a:p>
            <a:pPr>
              <a:spcAft>
                <a:spcPts val="300"/>
              </a:spcAft>
              <a:defRPr sz="1100">
                <a:latin typeface="Calibri"/>
              </a:defRPr>
            </a:pPr>
            <a:r>
              <a:rPr b="1">
                <a:solidFill>
                  <a:srgbClr val="FFFFFF"/>
                </a:solidFill>
              </a:rPr>
              <a:t>Course / Branch:   </a:t>
            </a:r>
            <a:r>
              <a:rPr>
                <a:solidFill>
                  <a:srgbClr val="E2E8F0"/>
                </a:solidFill>
              </a:rPr>
              <a:t>Master of Computer Applications (MCA) / B.Tech CSE </a:t>
            </a:r>
            <a:r>
              <a:rPr b="1">
                <a:solidFill>
                  <a:srgbClr val="FFFFFF"/>
                </a:solidFill>
              </a:rPr>
              <a:t>Academic Year:   </a:t>
            </a:r>
            <a:r>
              <a:rPr>
                <a:solidFill>
                  <a:srgbClr val="E2E8F0"/>
                </a:solidFill>
              </a:rPr>
              <a:t>2026 – 2027</a:t>
            </a:r>
          </a:p>
          <a:p>
            <a:pPr>
              <a:spcAft>
                <a:spcPts val="300"/>
              </a:spcAft>
              <a:defRPr sz="1100">
                <a:latin typeface="Calibri"/>
              </a:defRPr>
            </a:pPr>
            <a:r>
              <a:rPr b="1">
                <a:solidFill>
                  <a:srgbClr val="FFFFFF"/>
                </a:solidFill>
              </a:rPr>
              <a:t>Institution:       </a:t>
            </a:r>
            <a:r>
              <a:rPr>
                <a:solidFill>
                  <a:srgbClr val="E2E8F0"/>
                </a:solidFill>
              </a:rPr>
              <a:t>[College / University Name, Department of Computer Applications] </a:t>
            </a:r>
            <a:r>
              <a:rPr b="1">
                <a:solidFill>
                  <a:srgbClr val="FFFFFF"/>
                </a:solidFill>
              </a:rPr>
              <a:t>Compliance:      </a:t>
            </a:r>
            <a:r>
              <a:rPr>
                <a:solidFill>
                  <a:srgbClr val="E2E8F0"/>
                </a:solidFill>
              </a:rPr>
              <a:t>ABDM &amp; PM-JAY Healthcare Guidelines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1050" b="1">
                <a:solidFill>
                  <a:srgbClr val="0D9488"/>
                </a:solidFill>
                <a:latin typeface="Calibri"/>
              </a:defRPr>
            </a:pPr>
            <a:r>
              <a:t>CONTEXT &amp; MACRO BACKGROUND</a:t>
            </a:r>
          </a:p>
          <a:p>
            <a:pPr>
              <a:defRPr sz="2200" b="1">
                <a:solidFill>
                  <a:srgbClr val="0B2545"/>
                </a:solidFill>
                <a:latin typeface="Georgia"/>
              </a:defRPr>
            </a:pPr>
            <a:r>
              <a:t>The Out-of-Pocket Healthcare Crisis in Developing Nations</a:t>
            </a:r>
          </a:p>
          <a:p>
            <a:pPr>
              <a:spcBef>
                <a:spcPts val="200"/>
              </a:spcBef>
              <a:defRPr sz="1150">
                <a:solidFill>
                  <a:srgbClr val="475569"/>
                </a:solidFill>
                <a:latin typeface="Calibri"/>
              </a:defRPr>
            </a:pPr>
            <a:r>
              <a:t>Why existing social health insurance fails to prevent catastrophic medical poverty.</a:t>
            </a:r>
          </a:p>
        </p:txBody>
      </p:sp>
      <p:sp>
        <p:nvSpPr>
          <p:cNvPr id="4" name="Rounded Rectangle 3"/>
          <p:cNvSpPr/>
          <p:nvPr/>
        </p:nvSpPr>
        <p:spPr>
          <a:xfrm>
            <a:off x="731520" y="1645920"/>
            <a:ext cx="3328416"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28800"/>
            <a:ext cx="3054096" cy="4297680"/>
          </a:xfrm>
          <a:prstGeom prst="rect">
            <a:avLst/>
          </a:prstGeom>
          <a:noFill/>
        </p:spPr>
        <p:txBody>
          <a:bodyPr wrap="square">
            <a:spAutoFit/>
          </a:bodyPr>
          <a:lstStyle/>
          <a:p>
            <a:pPr>
              <a:spcAft>
                <a:spcPts val="400"/>
              </a:spcAft>
              <a:defRPr sz="1000" b="1">
                <a:solidFill>
                  <a:srgbClr val="D97706"/>
                </a:solidFill>
                <a:latin typeface="Calibri"/>
              </a:defRPr>
            </a:pPr>
            <a:r>
              <a:t>THE MACROECONOMIC CRISIS</a:t>
            </a:r>
          </a:p>
          <a:p>
            <a:pPr>
              <a:spcAft>
                <a:spcPts val="800"/>
              </a:spcAft>
              <a:defRPr sz="1400" b="1">
                <a:solidFill>
                  <a:srgbClr val="0B2545"/>
                </a:solidFill>
                <a:latin typeface="Georgia"/>
              </a:defRPr>
            </a:pPr>
            <a:r>
              <a:t>Catastrophic Health Expenditure (CHE)</a:t>
            </a:r>
          </a:p>
          <a:p>
            <a:pPr>
              <a:defRPr sz="1100">
                <a:solidFill>
                  <a:srgbClr val="1E293B"/>
                </a:solidFill>
                <a:latin typeface="Calibri"/>
              </a:defRPr>
            </a:pPr>
            <a:r>
              <a:t>• 48% to 65% of all healthcare spending in India and LMICs is paid Out-of-Pocket (OOPE).</a:t>
            </a:r>
            <a:br/>
            <a:br/>
            <a:r>
              <a:t>• Over 55 Million citizens are forced below the poverty line every single year due to unexpected medical emergencies.</a:t>
            </a:r>
            <a:br/>
            <a:br/>
            <a:r>
              <a:t>• Families resort to distress asset sales, emergency high-interest loans, or premature treatment abandonment.</a:t>
            </a:r>
          </a:p>
        </p:txBody>
      </p:sp>
      <p:sp>
        <p:nvSpPr>
          <p:cNvPr id="6" name="Rounded Rectangle 5"/>
          <p:cNvSpPr/>
          <p:nvPr/>
        </p:nvSpPr>
        <p:spPr>
          <a:xfrm>
            <a:off x="4425696" y="1645920"/>
            <a:ext cx="3328416"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62856" y="1828800"/>
            <a:ext cx="3054096" cy="4297680"/>
          </a:xfrm>
          <a:prstGeom prst="rect">
            <a:avLst/>
          </a:prstGeom>
          <a:noFill/>
        </p:spPr>
        <p:txBody>
          <a:bodyPr wrap="square">
            <a:spAutoFit/>
          </a:bodyPr>
          <a:lstStyle/>
          <a:p>
            <a:pPr>
              <a:spcAft>
                <a:spcPts val="400"/>
              </a:spcAft>
              <a:defRPr sz="1000" b="1">
                <a:solidFill>
                  <a:srgbClr val="0D9488"/>
                </a:solidFill>
                <a:latin typeface="Calibri"/>
              </a:defRPr>
            </a:pPr>
            <a:r>
              <a:t>THE STRUCTURAL GAP</a:t>
            </a:r>
          </a:p>
          <a:p>
            <a:pPr>
              <a:spcAft>
                <a:spcPts val="800"/>
              </a:spcAft>
              <a:defRPr sz="1400" b="1">
                <a:solidFill>
                  <a:srgbClr val="0B2545"/>
                </a:solidFill>
                <a:latin typeface="Georgia"/>
              </a:defRPr>
            </a:pPr>
            <a:r>
              <a:t>Uncovered Outpatient Care (OPD)</a:t>
            </a:r>
          </a:p>
          <a:p>
            <a:pPr>
              <a:defRPr sz="1100">
                <a:solidFill>
                  <a:srgbClr val="1E293B"/>
                </a:solidFill>
                <a:latin typeface="Calibri"/>
              </a:defRPr>
            </a:pPr>
            <a:r>
              <a:t>• Flagship welfare schemes (PM-JAY ₹5L, MJPJAY ₹5L) cover tertiary Inpatient Hospitalization (35–40% of spend).</a:t>
            </a:r>
            <a:br/>
            <a:br/>
            <a:r>
              <a:t>• Primary &amp; Outpatient Care (60–65% of spend) is completely unshielded:</a:t>
            </a:r>
            <a:br/>
            <a:r>
              <a:t>  - Doctor Consultations: 15%</a:t>
            </a:r>
            <a:br/>
            <a:r>
              <a:t>  - Recurring Pharmacy: 35%</a:t>
            </a:r>
            <a:br/>
            <a:r>
              <a:t>  - Laboratory Diagnostics: 12%</a:t>
            </a:r>
            <a:br/>
            <a:br/>
            <a:r>
              <a:t>• No savings buffer exists to protect recurring outpatient spend.</a:t>
            </a:r>
          </a:p>
        </p:txBody>
      </p:sp>
      <p:sp>
        <p:nvSpPr>
          <p:cNvPr id="8" name="Rounded Rectangle 7"/>
          <p:cNvSpPr/>
          <p:nvPr/>
        </p:nvSpPr>
        <p:spPr>
          <a:xfrm>
            <a:off x="8119872" y="1645920"/>
            <a:ext cx="3328416" cy="4663440"/>
          </a:xfrm>
          <a:prstGeom prst="roundRect">
            <a:avLst/>
          </a:prstGeom>
          <a:solidFill>
            <a:srgbClr val="F0F6FE"/>
          </a:solidFill>
          <a:ln w="1524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57031" y="1828800"/>
            <a:ext cx="3054096" cy="4297680"/>
          </a:xfrm>
          <a:prstGeom prst="rect">
            <a:avLst/>
          </a:prstGeom>
          <a:noFill/>
        </p:spPr>
        <p:txBody>
          <a:bodyPr wrap="square">
            <a:spAutoFit/>
          </a:bodyPr>
          <a:lstStyle/>
          <a:p>
            <a:pPr>
              <a:spcAft>
                <a:spcPts val="400"/>
              </a:spcAft>
              <a:defRPr sz="1000" b="1">
                <a:solidFill>
                  <a:srgbClr val="134074"/>
                </a:solidFill>
                <a:latin typeface="Calibri"/>
              </a:defRPr>
            </a:pPr>
            <a:r>
              <a:t>THE PROPOSED REMEDY</a:t>
            </a:r>
          </a:p>
          <a:p>
            <a:pPr>
              <a:spcAft>
                <a:spcPts val="800"/>
              </a:spcAft>
              <a:defRPr sz="1400" b="1">
                <a:solidFill>
                  <a:srgbClr val="0B2545"/>
                </a:solidFill>
                <a:latin typeface="Georgia"/>
              </a:defRPr>
            </a:pPr>
            <a:r>
              <a:t>PatientCare Unified Ecosystem</a:t>
            </a:r>
          </a:p>
          <a:p>
            <a:pPr>
              <a:defRPr sz="1100">
                <a:solidFill>
                  <a:srgbClr val="1E293B"/>
                </a:solidFill>
                <a:latin typeface="Calibri"/>
              </a:defRPr>
            </a:pPr>
            <a:r>
              <a:t>• A centralized, multi-stakeholder healthcare management &amp; fund distribution platform.</a:t>
            </a:r>
            <a:br/>
            <a:br/>
            <a:r>
              <a:t>• Connects 6 key entities: Patients, Doctors, Pathology Labs, Pharmacies, Insurers, and Government.</a:t>
            </a:r>
            <a:br/>
            <a:br/>
            <a:r>
              <a:t>• Introduces an immutable 90% Healthcare Reserve Ledger crediting routine spend into an emergency buffer.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1050" b="1">
                <a:solidFill>
                  <a:srgbClr val="0D9488"/>
                </a:solidFill>
                <a:latin typeface="Calibri"/>
              </a:defRPr>
            </a:pPr>
            <a:r>
              <a:t>PROBLEM STATEMENT</a:t>
            </a:r>
          </a:p>
          <a:p>
            <a:pPr>
              <a:defRPr sz="2200" b="1">
                <a:solidFill>
                  <a:srgbClr val="0B2545"/>
                </a:solidFill>
                <a:latin typeface="Georgia"/>
              </a:defRPr>
            </a:pPr>
            <a:r>
              <a:t>Five Disconnected Silos in Modern Healthcare Delivery</a:t>
            </a:r>
          </a:p>
          <a:p>
            <a:pPr>
              <a:spcBef>
                <a:spcPts val="200"/>
              </a:spcBef>
              <a:defRPr sz="1150">
                <a:solidFill>
                  <a:srgbClr val="475569"/>
                </a:solidFill>
                <a:latin typeface="Calibri"/>
              </a:defRPr>
            </a:pPr>
            <a:r>
              <a:t>Current systems suffer from structural balkanization, operational delays, and billing opacity.</a:t>
            </a:r>
          </a:p>
        </p:txBody>
      </p:sp>
      <p:sp>
        <p:nvSpPr>
          <p:cNvPr id="4" name="Rounded Rectangle 3"/>
          <p:cNvSpPr/>
          <p:nvPr/>
        </p:nvSpPr>
        <p:spPr>
          <a:xfrm>
            <a:off x="731520" y="1645920"/>
            <a:ext cx="10728655" cy="841248"/>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645920"/>
            <a:ext cx="137160" cy="841248"/>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719072"/>
            <a:ext cx="10241280" cy="685800"/>
          </a:xfrm>
          <a:prstGeom prst="rect">
            <a:avLst/>
          </a:prstGeom>
          <a:noFill/>
        </p:spPr>
        <p:txBody>
          <a:bodyPr wrap="square">
            <a:spAutoFit/>
          </a:bodyPr>
          <a:lstStyle/>
          <a:p>
            <a:r>
              <a:rPr sz="1150" b="1">
                <a:solidFill>
                  <a:srgbClr val="0B2545"/>
                </a:solidFill>
                <a:latin typeface="Calibri"/>
              </a:rPr>
              <a:t>1. Patients: </a:t>
            </a:r>
            <a:r>
              <a:rPr sz="1100" b="1">
                <a:solidFill>
                  <a:srgbClr val="D97706"/>
                </a:solidFill>
                <a:latin typeface="Calibri"/>
              </a:rPr>
              <a:t>Queue Delays &amp; Lost Records — </a:t>
            </a:r>
            <a:r>
              <a:rPr sz="1050">
                <a:solidFill>
                  <a:srgbClr val="1E293B"/>
                </a:solidFill>
                <a:latin typeface="Calibri"/>
              </a:rPr>
              <a:t>Endure physical queues; rely on fragile paper prescriptions; experience duplicate registrations across hospitals; zero insight into scheme eligibility.</a:t>
            </a:r>
          </a:p>
        </p:txBody>
      </p:sp>
      <p:sp>
        <p:nvSpPr>
          <p:cNvPr id="7" name="Rounded Rectangle 6"/>
          <p:cNvSpPr/>
          <p:nvPr/>
        </p:nvSpPr>
        <p:spPr>
          <a:xfrm>
            <a:off x="731520" y="2578608"/>
            <a:ext cx="10728655" cy="841248"/>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2578608"/>
            <a:ext cx="137160" cy="8412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651760"/>
            <a:ext cx="10241280" cy="685800"/>
          </a:xfrm>
          <a:prstGeom prst="rect">
            <a:avLst/>
          </a:prstGeom>
          <a:noFill/>
        </p:spPr>
        <p:txBody>
          <a:bodyPr wrap="square">
            <a:spAutoFit/>
          </a:bodyPr>
          <a:lstStyle/>
          <a:p>
            <a:r>
              <a:rPr sz="1150" b="1">
                <a:solidFill>
                  <a:srgbClr val="0B2545"/>
                </a:solidFill>
                <a:latin typeface="Calibri"/>
              </a:rPr>
              <a:t>2. Clinicians: </a:t>
            </a:r>
            <a:r>
              <a:rPr sz="1100" b="1">
                <a:solidFill>
                  <a:srgbClr val="0D9488"/>
                </a:solidFill>
                <a:latin typeface="Calibri"/>
              </a:rPr>
              <a:t>OPD Booking Collisions — </a:t>
            </a:r>
            <a:r>
              <a:rPr sz="1050">
                <a:solidFill>
                  <a:srgbClr val="1E293B"/>
                </a:solidFill>
                <a:latin typeface="Calibri"/>
              </a:rPr>
              <a:t>Burdened by administrative booking overhead; face concurrent token race conditions during peak clinic hours; lack longitudinal pathology test trends.</a:t>
            </a:r>
          </a:p>
        </p:txBody>
      </p:sp>
      <p:sp>
        <p:nvSpPr>
          <p:cNvPr id="10" name="Rounded Rectangle 9"/>
          <p:cNvSpPr/>
          <p:nvPr/>
        </p:nvSpPr>
        <p:spPr>
          <a:xfrm>
            <a:off x="731520" y="3511296"/>
            <a:ext cx="10728655" cy="841248"/>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3511296"/>
            <a:ext cx="137160" cy="841248"/>
          </a:xfrm>
          <a:prstGeom prst="rect">
            <a:avLst/>
          </a:prstGeom>
          <a:solidFill>
            <a:srgbClr val="1340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3584448"/>
            <a:ext cx="10241280" cy="685800"/>
          </a:xfrm>
          <a:prstGeom prst="rect">
            <a:avLst/>
          </a:prstGeom>
          <a:noFill/>
        </p:spPr>
        <p:txBody>
          <a:bodyPr wrap="square">
            <a:spAutoFit/>
          </a:bodyPr>
          <a:lstStyle/>
          <a:p>
            <a:r>
              <a:rPr sz="1150" b="1">
                <a:solidFill>
                  <a:srgbClr val="0B2545"/>
                </a:solidFill>
                <a:latin typeface="Calibri"/>
              </a:rPr>
              <a:t>3. Pathology Labs: </a:t>
            </a:r>
            <a:r>
              <a:rPr sz="1100" b="1">
                <a:solidFill>
                  <a:srgbClr val="134074"/>
                </a:solidFill>
                <a:latin typeface="Calibri"/>
              </a:rPr>
              <a:t>Isolated Diagnostics — </a:t>
            </a:r>
            <a:r>
              <a:rPr sz="1050">
                <a:solidFill>
                  <a:srgbClr val="1E293B"/>
                </a:solidFill>
                <a:latin typeface="Calibri"/>
              </a:rPr>
              <a:t>Operate standalone point-of-sale systems unlinked to referring doctors; delayed test report delivery; manual paper verification.</a:t>
            </a:r>
          </a:p>
        </p:txBody>
      </p:sp>
      <p:sp>
        <p:nvSpPr>
          <p:cNvPr id="13" name="Rounded Rectangle 12"/>
          <p:cNvSpPr/>
          <p:nvPr/>
        </p:nvSpPr>
        <p:spPr>
          <a:xfrm>
            <a:off x="731520" y="4443984"/>
            <a:ext cx="10728655" cy="841248"/>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4443984"/>
            <a:ext cx="137160" cy="841248"/>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4517136"/>
            <a:ext cx="10241280" cy="685800"/>
          </a:xfrm>
          <a:prstGeom prst="rect">
            <a:avLst/>
          </a:prstGeom>
          <a:noFill/>
        </p:spPr>
        <p:txBody>
          <a:bodyPr wrap="square">
            <a:spAutoFit/>
          </a:bodyPr>
          <a:lstStyle/>
          <a:p>
            <a:r>
              <a:rPr sz="1150" b="1">
                <a:solidFill>
                  <a:srgbClr val="0B2545"/>
                </a:solidFill>
                <a:latin typeface="Calibri"/>
              </a:rPr>
              <a:t>4. Pharmacies: </a:t>
            </a:r>
            <a:r>
              <a:rPr sz="1100" b="1">
                <a:solidFill>
                  <a:srgbClr val="0B2545"/>
                </a:solidFill>
                <a:latin typeface="Calibri"/>
              </a:rPr>
              <a:t>Fragmented Invoicing &amp; Fraud — </a:t>
            </a:r>
            <a:r>
              <a:rPr sz="1050">
                <a:solidFill>
                  <a:srgbClr val="1E293B"/>
                </a:solidFill>
                <a:latin typeface="Calibri"/>
              </a:rPr>
              <a:t>No automated verification of digital doctor prescriptions; manual GST calculation; disconnected from insurance secondary reimbursement.</a:t>
            </a:r>
          </a:p>
        </p:txBody>
      </p:sp>
      <p:sp>
        <p:nvSpPr>
          <p:cNvPr id="16" name="Rounded Rectangle 15"/>
          <p:cNvSpPr/>
          <p:nvPr/>
        </p:nvSpPr>
        <p:spPr>
          <a:xfrm>
            <a:off x="731520" y="5376672"/>
            <a:ext cx="10728655" cy="841248"/>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1520" y="5376672"/>
            <a:ext cx="137160" cy="841248"/>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5449824"/>
            <a:ext cx="10241280" cy="685800"/>
          </a:xfrm>
          <a:prstGeom prst="rect">
            <a:avLst/>
          </a:prstGeom>
          <a:noFill/>
        </p:spPr>
        <p:txBody>
          <a:bodyPr wrap="square">
            <a:spAutoFit/>
          </a:bodyPr>
          <a:lstStyle/>
          <a:p>
            <a:r>
              <a:rPr sz="1150" b="1">
                <a:solidFill>
                  <a:srgbClr val="0B2545"/>
                </a:solidFill>
                <a:latin typeface="Calibri"/>
              </a:rPr>
              <a:t>5. Government &amp; Insurers: </a:t>
            </a:r>
            <a:r>
              <a:rPr sz="1100" b="1">
                <a:solidFill>
                  <a:srgbClr val="B45309"/>
                </a:solidFill>
                <a:latin typeface="Calibri"/>
              </a:rPr>
              <a:t>30-60 Day Settlement Delays — </a:t>
            </a:r>
            <a:r>
              <a:rPr sz="1050">
                <a:solidFill>
                  <a:srgbClr val="1E293B"/>
                </a:solidFill>
                <a:latin typeface="Calibri"/>
              </a:rPr>
              <a:t>Opaque claims processing; vulnerable to fraudulent duplicate billing; severe audit blindspots; manual fund distribution.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1050" b="1">
                <a:solidFill>
                  <a:srgbClr val="0D9488"/>
                </a:solidFill>
                <a:latin typeface="Calibri"/>
              </a:defRPr>
            </a:pPr>
            <a:r>
              <a:t>PROJECT SCOPE &amp; GOALS</a:t>
            </a:r>
          </a:p>
          <a:p>
            <a:pPr>
              <a:defRPr sz="2200" b="1">
                <a:solidFill>
                  <a:srgbClr val="0B2545"/>
                </a:solidFill>
                <a:latin typeface="Georgia"/>
              </a:defRPr>
            </a:pPr>
            <a:r>
              <a:t>Six Core Engineering Objectives of the System</a:t>
            </a:r>
          </a:p>
          <a:p>
            <a:pPr>
              <a:spcBef>
                <a:spcPts val="200"/>
              </a:spcBef>
              <a:defRPr sz="1150">
                <a:solidFill>
                  <a:srgbClr val="475569"/>
                </a:solidFill>
                <a:latin typeface="Calibri"/>
              </a:defRPr>
            </a:pPr>
            <a:r>
              <a:t>Measurable, verifiable software deliverables implemented in the codebase.</a:t>
            </a:r>
          </a:p>
        </p:txBody>
      </p:sp>
      <p:sp>
        <p:nvSpPr>
          <p:cNvPr id="4" name="Rounded Rectangle 3"/>
          <p:cNvSpPr/>
          <p:nvPr/>
        </p:nvSpPr>
        <p:spPr>
          <a:xfrm>
            <a:off x="731520" y="1645920"/>
            <a:ext cx="3328416" cy="2194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645920"/>
            <a:ext cx="3328416"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1810512"/>
            <a:ext cx="2999232" cy="1865376"/>
          </a:xfrm>
          <a:prstGeom prst="rect">
            <a:avLst/>
          </a:prstGeom>
          <a:noFill/>
        </p:spPr>
        <p:txBody>
          <a:bodyPr wrap="square">
            <a:spAutoFit/>
          </a:bodyPr>
          <a:lstStyle/>
          <a:p>
            <a:pPr>
              <a:spcAft>
                <a:spcPts val="600"/>
              </a:spcAft>
              <a:defRPr sz="1200" b="1">
                <a:solidFill>
                  <a:srgbClr val="0B2545"/>
                </a:solidFill>
                <a:latin typeface="Georgia"/>
              </a:defRPr>
            </a:pPr>
            <a:r>
              <a:t>1. PAN Deduplication &amp; Unique Identity</a:t>
            </a:r>
          </a:p>
          <a:p>
            <a:pPr>
              <a:defRPr sz="1050">
                <a:solidFill>
                  <a:srgbClr val="1E293B"/>
                </a:solidFill>
                <a:latin typeface="Calibri"/>
              </a:defRPr>
            </a:pPr>
            <a:r>
              <a:t>Validate Indian PAN format ([A-Z]{5}[0-9]{4}[A-Z]{1}) to eliminate duplicate patient records. Generate sequential PAT-2026-XXXXXX and permanent HAC Health Pass.</a:t>
            </a:r>
          </a:p>
        </p:txBody>
      </p:sp>
      <p:sp>
        <p:nvSpPr>
          <p:cNvPr id="7" name="Rounded Rectangle 6"/>
          <p:cNvSpPr/>
          <p:nvPr/>
        </p:nvSpPr>
        <p:spPr>
          <a:xfrm>
            <a:off x="4425696" y="1645920"/>
            <a:ext cx="3328416" cy="2194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425696" y="1645920"/>
            <a:ext cx="3328416" cy="73152"/>
          </a:xfrm>
          <a:prstGeom prst="rect">
            <a:avLst/>
          </a:prstGeom>
          <a:solidFill>
            <a:srgbClr val="1340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90288" y="1810512"/>
            <a:ext cx="2999232" cy="1865376"/>
          </a:xfrm>
          <a:prstGeom prst="rect">
            <a:avLst/>
          </a:prstGeom>
          <a:noFill/>
        </p:spPr>
        <p:txBody>
          <a:bodyPr wrap="square">
            <a:spAutoFit/>
          </a:bodyPr>
          <a:lstStyle/>
          <a:p>
            <a:pPr>
              <a:spcAft>
                <a:spcPts val="600"/>
              </a:spcAft>
              <a:defRPr sz="1200" b="1">
                <a:solidFill>
                  <a:srgbClr val="0B2545"/>
                </a:solidFill>
                <a:latin typeface="Georgia"/>
              </a:defRPr>
            </a:pPr>
            <a:r>
              <a:t>2. Atomic Token Scheduling</a:t>
            </a:r>
          </a:p>
          <a:p>
            <a:pPr>
              <a:defRPr sz="1050">
                <a:solidFill>
                  <a:srgbClr val="1E293B"/>
                </a:solidFill>
                <a:latin typeface="Calibri"/>
              </a:defRPr>
            </a:pPr>
            <a:r>
              <a:t>Eliminate OPD queue race conditions using database-level pessimistic row locking (SELECT FOR UPDATE) and idempotency keys with O(1) allocation complexity.</a:t>
            </a:r>
          </a:p>
        </p:txBody>
      </p:sp>
      <p:sp>
        <p:nvSpPr>
          <p:cNvPr id="10" name="Rounded Rectangle 9"/>
          <p:cNvSpPr/>
          <p:nvPr/>
        </p:nvSpPr>
        <p:spPr>
          <a:xfrm>
            <a:off x="8119872" y="1645920"/>
            <a:ext cx="3328416" cy="2194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119872" y="1645920"/>
            <a:ext cx="3328416" cy="73152"/>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4464" y="1810512"/>
            <a:ext cx="2999232" cy="1865376"/>
          </a:xfrm>
          <a:prstGeom prst="rect">
            <a:avLst/>
          </a:prstGeom>
          <a:noFill/>
        </p:spPr>
        <p:txBody>
          <a:bodyPr wrap="square">
            <a:spAutoFit/>
          </a:bodyPr>
          <a:lstStyle/>
          <a:p>
            <a:pPr>
              <a:spcAft>
                <a:spcPts val="600"/>
              </a:spcAft>
              <a:defRPr sz="1200" b="1">
                <a:solidFill>
                  <a:srgbClr val="0B2545"/>
                </a:solidFill>
                <a:latin typeface="Georgia"/>
              </a:defRPr>
            </a:pPr>
            <a:r>
              <a:t>3. Configurable 5-Tier Fund Engine</a:t>
            </a:r>
          </a:p>
          <a:p>
            <a:pPr>
              <a:defRPr sz="1050">
                <a:solidFill>
                  <a:srgbClr val="1E293B"/>
                </a:solidFill>
                <a:latin typeface="Calibri"/>
              </a:defRPr>
            </a:pPr>
            <a:r>
              <a:t>Automate package distribution: Doctor 10%, Pathology 10%, Pharmacy 5%, Govt Admin 5%, Patient Benefit Wallet 70% with Python Decimal precision.</a:t>
            </a:r>
          </a:p>
        </p:txBody>
      </p:sp>
      <p:sp>
        <p:nvSpPr>
          <p:cNvPr id="13" name="Rounded Rectangle 12"/>
          <p:cNvSpPr/>
          <p:nvPr/>
        </p:nvSpPr>
        <p:spPr>
          <a:xfrm>
            <a:off x="731520" y="4023360"/>
            <a:ext cx="3328416" cy="2194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4023360"/>
            <a:ext cx="3328416" cy="7315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4187952"/>
            <a:ext cx="2999232" cy="1865376"/>
          </a:xfrm>
          <a:prstGeom prst="rect">
            <a:avLst/>
          </a:prstGeom>
          <a:noFill/>
        </p:spPr>
        <p:txBody>
          <a:bodyPr wrap="square">
            <a:spAutoFit/>
          </a:bodyPr>
          <a:lstStyle/>
          <a:p>
            <a:pPr>
              <a:spcAft>
                <a:spcPts val="600"/>
              </a:spcAft>
              <a:defRPr sz="1200" b="1">
                <a:solidFill>
                  <a:srgbClr val="0B2545"/>
                </a:solidFill>
                <a:latin typeface="Georgia"/>
              </a:defRPr>
            </a:pPr>
            <a:r>
              <a:t>4. Immutable 90% Reserve Ledger</a:t>
            </a:r>
          </a:p>
          <a:p>
            <a:pPr>
              <a:defRPr sz="1050">
                <a:solidFill>
                  <a:srgbClr val="1E293B"/>
                </a:solidFill>
                <a:latin typeface="Calibri"/>
              </a:defRPr>
            </a:pPr>
            <a:r>
              <a:t>Implement an append-only double-entry financial ledger crediting 90% of routine healthcare expenditure into a protected emergency reserve account.</a:t>
            </a:r>
          </a:p>
        </p:txBody>
      </p:sp>
      <p:sp>
        <p:nvSpPr>
          <p:cNvPr id="16" name="Rounded Rectangle 15"/>
          <p:cNvSpPr/>
          <p:nvPr/>
        </p:nvSpPr>
        <p:spPr>
          <a:xfrm>
            <a:off x="4425696" y="4023360"/>
            <a:ext cx="3328416" cy="2194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25696" y="4023360"/>
            <a:ext cx="3328416" cy="73152"/>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90288" y="4187952"/>
            <a:ext cx="2999232" cy="1865376"/>
          </a:xfrm>
          <a:prstGeom prst="rect">
            <a:avLst/>
          </a:prstGeom>
          <a:noFill/>
        </p:spPr>
        <p:txBody>
          <a:bodyPr wrap="square">
            <a:spAutoFit/>
          </a:bodyPr>
          <a:lstStyle/>
          <a:p>
            <a:pPr>
              <a:spcAft>
                <a:spcPts val="600"/>
              </a:spcAft>
              <a:defRPr sz="1200" b="1">
                <a:solidFill>
                  <a:srgbClr val="0B2545"/>
                </a:solidFill>
                <a:latin typeface="Georgia"/>
              </a:defRPr>
            </a:pPr>
            <a:r>
              <a:t>5. Safety-Bounded Clinical AI Triage</a:t>
            </a:r>
          </a:p>
          <a:p>
            <a:pPr>
              <a:defRPr sz="1050">
                <a:solidFill>
                  <a:srgbClr val="1E293B"/>
                </a:solidFill>
                <a:latin typeface="Calibri"/>
              </a:defRPr>
            </a:pPr>
            <a:r>
              <a:t>Provide natural language symptom-to-specialty routing backed by an instant deterministic red-flag screening filter dispatching emergency advice for 108 Ambulance.</a:t>
            </a:r>
          </a:p>
        </p:txBody>
      </p:sp>
      <p:sp>
        <p:nvSpPr>
          <p:cNvPr id="19" name="Rounded Rectangle 18"/>
          <p:cNvSpPr/>
          <p:nvPr/>
        </p:nvSpPr>
        <p:spPr>
          <a:xfrm>
            <a:off x="8119872" y="4023360"/>
            <a:ext cx="3328416" cy="2194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119872" y="4023360"/>
            <a:ext cx="3328416" cy="73152"/>
          </a:xfrm>
          <a:prstGeom prst="rect">
            <a:avLst/>
          </a:prstGeom>
          <a:solidFill>
            <a:srgbClr val="1340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84464" y="4187952"/>
            <a:ext cx="2999232" cy="1865376"/>
          </a:xfrm>
          <a:prstGeom prst="rect">
            <a:avLst/>
          </a:prstGeom>
          <a:noFill/>
        </p:spPr>
        <p:txBody>
          <a:bodyPr wrap="square">
            <a:spAutoFit/>
          </a:bodyPr>
          <a:lstStyle/>
          <a:p>
            <a:pPr>
              <a:spcAft>
                <a:spcPts val="600"/>
              </a:spcAft>
              <a:defRPr sz="1200" b="1">
                <a:solidFill>
                  <a:srgbClr val="0B2545"/>
                </a:solidFill>
                <a:latin typeface="Georgia"/>
              </a:defRPr>
            </a:pPr>
            <a:r>
              <a:t>6. Single-Pane Longitudinal Records</a:t>
            </a:r>
          </a:p>
          <a:p>
            <a:pPr>
              <a:defRPr sz="1050">
                <a:solidFill>
                  <a:srgbClr val="1E293B"/>
                </a:solidFill>
                <a:latin typeface="Calibri"/>
              </a:defRPr>
            </a:pPr>
            <a:r>
              <a:t>Compile end-to-end patient medical timelines with dynamic ReportLab PDF certification and itemized CSV financial export.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1050" b="1">
                <a:solidFill>
                  <a:srgbClr val="0D9488"/>
                </a:solidFill>
                <a:latin typeface="Calibri"/>
              </a:defRPr>
            </a:pPr>
            <a:r>
              <a:t>COMPARATIVE ANALYSIS</a:t>
            </a:r>
          </a:p>
          <a:p>
            <a:pPr>
              <a:defRPr sz="2200" b="1">
                <a:solidFill>
                  <a:srgbClr val="0B2545"/>
                </a:solidFill>
                <a:latin typeface="Georgia"/>
              </a:defRPr>
            </a:pPr>
            <a:r>
              <a:t>Existing Healthcare Systems vs. PatientCare Platform</a:t>
            </a:r>
          </a:p>
          <a:p>
            <a:pPr>
              <a:spcBef>
                <a:spcPts val="200"/>
              </a:spcBef>
              <a:defRPr sz="1150">
                <a:solidFill>
                  <a:srgbClr val="475569"/>
                </a:solidFill>
                <a:latin typeface="Calibri"/>
              </a:defRPr>
            </a:pPr>
            <a:r>
              <a:t>Clear engineering advantages over legacy paper-based and siloed hospital software.</a:t>
            </a:r>
          </a:p>
        </p:txBody>
      </p:sp>
      <p:graphicFrame>
        <p:nvGraphicFramePr>
          <p:cNvPr id="4" name="Table 3"/>
          <p:cNvGraphicFramePr>
            <a:graphicFrameLocks noGrp="1"/>
          </p:cNvGraphicFramePr>
          <p:nvPr/>
        </p:nvGraphicFramePr>
        <p:xfrm>
          <a:off x="731520" y="1645920"/>
          <a:ext cx="10728655" cy="4572000"/>
        </p:xfrm>
        <a:graphic>
          <a:graphicData uri="http://schemas.openxmlformats.org/drawingml/2006/table">
            <a:tbl>
              <a:tblPr firstRow="1" bandRow="1">
                <a:tableStyleId>{5C22544A-7EE6-4342-B048-85BDC9FD1C3A}</a:tableStyleId>
              </a:tblPr>
              <a:tblGrid>
                <a:gridCol w="2468880"/>
                <a:gridCol w="4114800"/>
                <a:gridCol w="4144975"/>
              </a:tblGrid>
              <a:tr h="571500">
                <a:tc>
                  <a:txBody>
                    <a:bodyPr/>
                    <a:lstStyle/>
                    <a:p>
                      <a:pPr>
                        <a:defRPr sz="1100" b="1">
                          <a:solidFill>
                            <a:srgbClr val="FFFFFF"/>
                          </a:solidFill>
                          <a:latin typeface="Calibri"/>
                        </a:defRPr>
                      </a:pPr>
                      <a:r>
                        <a:t>Operational Dimension</a:t>
                      </a:r>
                    </a:p>
                  </a:txBody>
                  <a:tcPr anchor="ctr">
                    <a:solidFill>
                      <a:srgbClr val="0B2545"/>
                    </a:solidFill>
                  </a:tcPr>
                </a:tc>
                <a:tc>
                  <a:txBody>
                    <a:bodyPr/>
                    <a:lstStyle/>
                    <a:p>
                      <a:pPr>
                        <a:defRPr sz="1100" b="1">
                          <a:solidFill>
                            <a:srgbClr val="FFFFFF"/>
                          </a:solidFill>
                          <a:latin typeface="Calibri"/>
                        </a:defRPr>
                      </a:pPr>
                      <a:r>
                        <a:t>Existing Fragmented Systems</a:t>
                      </a:r>
                    </a:p>
                  </a:txBody>
                  <a:tcPr anchor="ctr">
                    <a:solidFill>
                      <a:srgbClr val="0B2545"/>
                    </a:solidFill>
                  </a:tcPr>
                </a:tc>
                <a:tc>
                  <a:txBody>
                    <a:bodyPr/>
                    <a:lstStyle/>
                    <a:p>
                      <a:pPr>
                        <a:defRPr sz="1100" b="1">
                          <a:solidFill>
                            <a:srgbClr val="FFFFFF"/>
                          </a:solidFill>
                          <a:latin typeface="Calibri"/>
                        </a:defRPr>
                      </a:pPr>
                      <a:r>
                        <a:t>PatientCare Proposed Platform</a:t>
                      </a:r>
                    </a:p>
                  </a:txBody>
                  <a:tcPr anchor="ctr">
                    <a:solidFill>
                      <a:srgbClr val="0B2545"/>
                    </a:solidFill>
                  </a:tcPr>
                </a:tc>
              </a:tr>
              <a:tr h="571500">
                <a:tc>
                  <a:txBody>
                    <a:bodyPr/>
                    <a:lstStyle/>
                    <a:p>
                      <a:pPr>
                        <a:defRPr sz="1000" b="1">
                          <a:solidFill>
                            <a:srgbClr val="0B2545"/>
                          </a:solidFill>
                          <a:latin typeface="Calibri"/>
                        </a:defRPr>
                      </a:pPr>
                      <a:r>
                        <a:t>Patient Identification</a:t>
                      </a:r>
                    </a:p>
                  </a:txBody>
                  <a:tcPr anchor="ctr">
                    <a:solidFill>
                      <a:srgbClr val="FFFFFF"/>
                    </a:solidFill>
                  </a:tcPr>
                </a:tc>
                <a:tc>
                  <a:txBody>
                    <a:bodyPr/>
                    <a:lstStyle/>
                    <a:p>
                      <a:pPr>
                        <a:defRPr sz="1000">
                          <a:solidFill>
                            <a:srgbClr val="1E293B"/>
                          </a:solidFill>
                          <a:latin typeface="Calibri"/>
                        </a:defRPr>
                      </a:pPr>
                      <a:r>
                        <a:t>Ad-hoc local hospital IDs; frequent duplicates; fragmented history.</a:t>
                      </a:r>
                    </a:p>
                  </a:txBody>
                  <a:tcPr anchor="ctr">
                    <a:solidFill>
                      <a:srgbClr val="FFFFFF"/>
                    </a:solidFill>
                  </a:tcPr>
                </a:tc>
                <a:tc>
                  <a:txBody>
                    <a:bodyPr/>
                    <a:lstStyle/>
                    <a:p>
                      <a:pPr>
                        <a:defRPr sz="1000">
                          <a:solidFill>
                            <a:srgbClr val="134074"/>
                          </a:solidFill>
                          <a:latin typeface="Calibri"/>
                        </a:defRPr>
                      </a:pPr>
                      <a:r>
                        <a:t>Indian PAN format validation; deduplication logic; sequential PAT-2026-XXXXXX &amp; HAC Card.</a:t>
                      </a:r>
                    </a:p>
                  </a:txBody>
                  <a:tcPr anchor="ctr">
                    <a:solidFill>
                      <a:srgbClr val="FFFFFF"/>
                    </a:solidFill>
                  </a:tcPr>
                </a:tc>
              </a:tr>
              <a:tr h="571500">
                <a:tc>
                  <a:txBody>
                    <a:bodyPr/>
                    <a:lstStyle/>
                    <a:p>
                      <a:pPr>
                        <a:defRPr sz="1000" b="1">
                          <a:solidFill>
                            <a:srgbClr val="0B2545"/>
                          </a:solidFill>
                          <a:latin typeface="Calibri"/>
                        </a:defRPr>
                      </a:pPr>
                      <a:r>
                        <a:t>OPD Queue Scheduling</a:t>
                      </a:r>
                    </a:p>
                  </a:txBody>
                  <a:tcPr anchor="ctr">
                    <a:solidFill>
                      <a:srgbClr val="F0F6FE"/>
                    </a:solidFill>
                  </a:tcPr>
                </a:tc>
                <a:tc>
                  <a:txBody>
                    <a:bodyPr/>
                    <a:lstStyle/>
                    <a:p>
                      <a:pPr>
                        <a:defRPr sz="1000">
                          <a:solidFill>
                            <a:srgbClr val="1E293B"/>
                          </a:solidFill>
                          <a:latin typeface="Calibri"/>
                        </a:defRPr>
                      </a:pPr>
                      <a:r>
                        <a:t>Manual paper tokens; digital race conditions under concurrent load.</a:t>
                      </a:r>
                    </a:p>
                  </a:txBody>
                  <a:tcPr anchor="ctr">
                    <a:solidFill>
                      <a:srgbClr val="F0F6FE"/>
                    </a:solidFill>
                  </a:tcPr>
                </a:tc>
                <a:tc>
                  <a:txBody>
                    <a:bodyPr/>
                    <a:lstStyle/>
                    <a:p>
                      <a:pPr>
                        <a:defRPr sz="1000">
                          <a:solidFill>
                            <a:srgbClr val="134074"/>
                          </a:solidFill>
                          <a:latin typeface="Calibri"/>
                        </a:defRPr>
                      </a:pPr>
                      <a:r>
                        <a:t>Atomic pessimistic row locking (SELECT FOR UPDATE); zero token collisions; O(1) complexity.</a:t>
                      </a:r>
                    </a:p>
                  </a:txBody>
                  <a:tcPr anchor="ctr">
                    <a:solidFill>
                      <a:srgbClr val="F0F6FE"/>
                    </a:solidFill>
                  </a:tcPr>
                </a:tc>
              </a:tr>
              <a:tr h="571500">
                <a:tc>
                  <a:txBody>
                    <a:bodyPr/>
                    <a:lstStyle/>
                    <a:p>
                      <a:pPr>
                        <a:defRPr sz="1000" b="1">
                          <a:solidFill>
                            <a:srgbClr val="0B2545"/>
                          </a:solidFill>
                          <a:latin typeface="Calibri"/>
                        </a:defRPr>
                      </a:pPr>
                      <a:r>
                        <a:t>Fund Settlement</a:t>
                      </a:r>
                    </a:p>
                  </a:txBody>
                  <a:tcPr anchor="ctr">
                    <a:solidFill>
                      <a:srgbClr val="FFFFFF"/>
                    </a:solidFill>
                  </a:tcPr>
                </a:tc>
                <a:tc>
                  <a:txBody>
                    <a:bodyPr/>
                    <a:lstStyle/>
                    <a:p>
                      <a:pPr>
                        <a:defRPr sz="1000">
                          <a:solidFill>
                            <a:srgbClr val="1E293B"/>
                          </a:solidFill>
                          <a:latin typeface="Calibri"/>
                        </a:defRPr>
                      </a:pPr>
                      <a:r>
                        <a:t>Opaque, manual billing; 30–60 day insurance reimbursement delay.</a:t>
                      </a:r>
                    </a:p>
                  </a:txBody>
                  <a:tcPr anchor="ctr">
                    <a:solidFill>
                      <a:srgbClr val="FFFFFF"/>
                    </a:solidFill>
                  </a:tcPr>
                </a:tc>
                <a:tc>
                  <a:txBody>
                    <a:bodyPr/>
                    <a:lstStyle/>
                    <a:p>
                      <a:pPr>
                        <a:defRPr sz="1000">
                          <a:solidFill>
                            <a:srgbClr val="134074"/>
                          </a:solidFill>
                          <a:latin typeface="Calibri"/>
                        </a:defRPr>
                      </a:pPr>
                      <a:r>
                        <a:t>Dynamic 5-tier allocation (10/10/5/5/70) calculated with Decimal precision; instant settlement.</a:t>
                      </a:r>
                    </a:p>
                  </a:txBody>
                  <a:tcPr anchor="ctr">
                    <a:solidFill>
                      <a:srgbClr val="FFFFFF"/>
                    </a:solidFill>
                  </a:tcPr>
                </a:tc>
              </a:tr>
              <a:tr h="571500">
                <a:tc>
                  <a:txBody>
                    <a:bodyPr/>
                    <a:lstStyle/>
                    <a:p>
                      <a:pPr>
                        <a:defRPr sz="1000" b="1">
                          <a:solidFill>
                            <a:srgbClr val="0B2545"/>
                          </a:solidFill>
                          <a:latin typeface="Calibri"/>
                        </a:defRPr>
                      </a:pPr>
                      <a:r>
                        <a:t>Outpatient Savings</a:t>
                      </a:r>
                    </a:p>
                  </a:txBody>
                  <a:tcPr anchor="ctr">
                    <a:solidFill>
                      <a:srgbClr val="F0F6FE"/>
                    </a:solidFill>
                  </a:tcPr>
                </a:tc>
                <a:tc>
                  <a:txBody>
                    <a:bodyPr/>
                    <a:lstStyle/>
                    <a:p>
                      <a:pPr>
                        <a:defRPr sz="1000">
                          <a:solidFill>
                            <a:srgbClr val="1E293B"/>
                          </a:solidFill>
                          <a:latin typeface="Calibri"/>
                        </a:defRPr>
                      </a:pPr>
                      <a:r>
                        <a:t>Zero financial shield on OPD consultations, pharmacy, and tests.</a:t>
                      </a:r>
                    </a:p>
                  </a:txBody>
                  <a:tcPr anchor="ctr">
                    <a:solidFill>
                      <a:srgbClr val="F0F6FE"/>
                    </a:solidFill>
                  </a:tcPr>
                </a:tc>
                <a:tc>
                  <a:txBody>
                    <a:bodyPr/>
                    <a:lstStyle/>
                    <a:p>
                      <a:pPr>
                        <a:defRPr sz="1000">
                          <a:solidFill>
                            <a:srgbClr val="134074"/>
                          </a:solidFill>
                          <a:latin typeface="Calibri"/>
                        </a:defRPr>
                      </a:pPr>
                      <a:r>
                        <a:t>Immutable 90% Healthcare Reserve Ledger crediting an emergency savings buffer.</a:t>
                      </a:r>
                    </a:p>
                  </a:txBody>
                  <a:tcPr anchor="ctr">
                    <a:solidFill>
                      <a:srgbClr val="F0F6FE"/>
                    </a:solidFill>
                  </a:tcPr>
                </a:tc>
              </a:tr>
              <a:tr h="571500">
                <a:tc>
                  <a:txBody>
                    <a:bodyPr/>
                    <a:lstStyle/>
                    <a:p>
                      <a:pPr>
                        <a:defRPr sz="1000" b="1">
                          <a:solidFill>
                            <a:srgbClr val="0B2545"/>
                          </a:solidFill>
                          <a:latin typeface="Calibri"/>
                        </a:defRPr>
                      </a:pPr>
                      <a:r>
                        <a:t>Clinical Triage</a:t>
                      </a:r>
                    </a:p>
                  </a:txBody>
                  <a:tcPr anchor="ctr">
                    <a:solidFill>
                      <a:srgbClr val="FFFFFF"/>
                    </a:solidFill>
                  </a:tcPr>
                </a:tc>
                <a:tc>
                  <a:txBody>
                    <a:bodyPr/>
                    <a:lstStyle/>
                    <a:p>
                      <a:pPr>
                        <a:defRPr sz="1000">
                          <a:solidFill>
                            <a:srgbClr val="1E293B"/>
                          </a:solidFill>
                          <a:latin typeface="Calibri"/>
                        </a:defRPr>
                      </a:pPr>
                      <a:r>
                        <a:t>Unsupervised internet search or unassisted clinic crowding.</a:t>
                      </a:r>
                    </a:p>
                  </a:txBody>
                  <a:tcPr anchor="ctr">
                    <a:solidFill>
                      <a:srgbClr val="FFFFFF"/>
                    </a:solidFill>
                  </a:tcPr>
                </a:tc>
                <a:tc>
                  <a:txBody>
                    <a:bodyPr/>
                    <a:lstStyle/>
                    <a:p>
                      <a:pPr>
                        <a:defRPr sz="1000">
                          <a:solidFill>
                            <a:srgbClr val="134074"/>
                          </a:solidFill>
                          <a:latin typeface="Calibri"/>
                        </a:defRPr>
                      </a:pPr>
                      <a:r>
                        <a:t>AI triage (Gemini 1.5) + deterministic 108 Emergency Ambulance red-flag safety filter.</a:t>
                      </a:r>
                    </a:p>
                  </a:txBody>
                  <a:tcPr anchor="ctr">
                    <a:solidFill>
                      <a:srgbClr val="FFFFFF"/>
                    </a:solidFill>
                  </a:tcPr>
                </a:tc>
              </a:tr>
              <a:tr h="571500">
                <a:tc>
                  <a:txBody>
                    <a:bodyPr/>
                    <a:lstStyle/>
                    <a:p>
                      <a:pPr>
                        <a:defRPr sz="1000" b="1">
                          <a:solidFill>
                            <a:srgbClr val="0B2545"/>
                          </a:solidFill>
                          <a:latin typeface="Calibri"/>
                        </a:defRPr>
                      </a:pPr>
                      <a:r>
                        <a:t>Medical Reporting</a:t>
                      </a:r>
                    </a:p>
                  </a:txBody>
                  <a:tcPr anchor="ctr">
                    <a:solidFill>
                      <a:srgbClr val="F0F6FE"/>
                    </a:solidFill>
                  </a:tcPr>
                </a:tc>
                <a:tc>
                  <a:txBody>
                    <a:bodyPr/>
                    <a:lstStyle/>
                    <a:p>
                      <a:pPr>
                        <a:defRPr sz="1000">
                          <a:solidFill>
                            <a:srgbClr val="1E293B"/>
                          </a:solidFill>
                          <a:latin typeface="Calibri"/>
                        </a:defRPr>
                      </a:pPr>
                      <a:r>
                        <a:t>Scattered physical papers; lost lab slips across providers.</a:t>
                      </a:r>
                    </a:p>
                  </a:txBody>
                  <a:tcPr anchor="ctr">
                    <a:solidFill>
                      <a:srgbClr val="F0F6FE"/>
                    </a:solidFill>
                  </a:tcPr>
                </a:tc>
                <a:tc>
                  <a:txBody>
                    <a:bodyPr/>
                    <a:lstStyle/>
                    <a:p>
                      <a:pPr>
                        <a:defRPr sz="1000">
                          <a:solidFill>
                            <a:srgbClr val="134074"/>
                          </a:solidFill>
                          <a:latin typeface="Calibri"/>
                        </a:defRPr>
                      </a:pPr>
                      <a:r>
                        <a:t>Consolidated longitudinal web records + certified ReportLab dynamic PDF &amp; CSV streaming.</a:t>
                      </a:r>
                    </a:p>
                  </a:txBody>
                  <a:tcPr anchor="ctr">
                    <a:solidFill>
                      <a:srgbClr val="F0F6FE"/>
                    </a:solidFill>
                  </a:tcPr>
                </a:tc>
              </a:tr>
              <a:tr h="571500">
                <a:tc>
                  <a:txBody>
                    <a:bodyPr/>
                    <a:lstStyle/>
                    <a:p>
                      <a:pPr>
                        <a:defRPr sz="1000" b="1">
                          <a:solidFill>
                            <a:srgbClr val="0B2545"/>
                          </a:solidFill>
                          <a:latin typeface="Calibri"/>
                        </a:defRPr>
                      </a:pPr>
                      <a:r>
                        <a:t>Regulatory Compliance</a:t>
                      </a:r>
                    </a:p>
                  </a:txBody>
                  <a:tcPr anchor="ctr">
                    <a:solidFill>
                      <a:srgbClr val="FFFFFF"/>
                    </a:solidFill>
                  </a:tcPr>
                </a:tc>
                <a:tc>
                  <a:txBody>
                    <a:bodyPr/>
                    <a:lstStyle/>
                    <a:p>
                      <a:pPr>
                        <a:defRPr sz="1000">
                          <a:solidFill>
                            <a:srgbClr val="1E293B"/>
                          </a:solidFill>
                          <a:latin typeface="Calibri"/>
                        </a:defRPr>
                      </a:pPr>
                      <a:r>
                        <a:t>Inconsistent GST charging; unmasked sensitive tax identifiers.</a:t>
                      </a:r>
                    </a:p>
                  </a:txBody>
                  <a:tcPr anchor="ctr">
                    <a:solidFill>
                      <a:srgbClr val="FFFFFF"/>
                    </a:solidFill>
                  </a:tcPr>
                </a:tc>
                <a:tc>
                  <a:txBody>
                    <a:bodyPr/>
                    <a:lstStyle/>
                    <a:p>
                      <a:pPr>
                        <a:defRPr sz="1000">
                          <a:solidFill>
                            <a:srgbClr val="134074"/>
                          </a:solidFill>
                          <a:latin typeface="Calibri"/>
                        </a:defRPr>
                      </a:pPr>
                      <a:r>
                        <a:t>Compliant with India DISHA &amp; ABDM: masked PAN/Aadhaar, 5% pharma GST, audit logging.</a:t>
                      </a:r>
                    </a:p>
                  </a:txBody>
                  <a:tcPr anchor="ctr">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1050" b="1">
                <a:solidFill>
                  <a:srgbClr val="0D9488"/>
                </a:solidFill>
                <a:latin typeface="Calibri"/>
              </a:defRPr>
            </a:pPr>
            <a:r>
              <a:t>IMPLEMENTATION FOUNDATION</a:t>
            </a:r>
          </a:p>
          <a:p>
            <a:pPr>
              <a:defRPr sz="2200" b="1">
                <a:solidFill>
                  <a:srgbClr val="0B2545"/>
                </a:solidFill>
                <a:latin typeface="Georgia"/>
              </a:defRPr>
            </a:pPr>
            <a:r>
              <a:t>Full-Stack Production Technology Stack</a:t>
            </a:r>
          </a:p>
          <a:p>
            <a:pPr>
              <a:spcBef>
                <a:spcPts val="200"/>
              </a:spcBef>
              <a:defRPr sz="1150">
                <a:solidFill>
                  <a:srgbClr val="475569"/>
                </a:solidFill>
                <a:latin typeface="Calibri"/>
              </a:defRPr>
            </a:pPr>
            <a:r>
              <a:t>Engineered with open-source, standards-compliant, and high-performance technologies.</a:t>
            </a:r>
          </a:p>
        </p:txBody>
      </p:sp>
      <p:sp>
        <p:nvSpPr>
          <p:cNvPr id="4" name="Rounded Rectangle 3"/>
          <p:cNvSpPr/>
          <p:nvPr/>
        </p:nvSpPr>
        <p:spPr>
          <a:xfrm>
            <a:off x="731520" y="1645920"/>
            <a:ext cx="2523744"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645920"/>
            <a:ext cx="2523744" cy="9144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28800"/>
            <a:ext cx="2249424" cy="4389120"/>
          </a:xfrm>
          <a:prstGeom prst="rect">
            <a:avLst/>
          </a:prstGeom>
          <a:noFill/>
        </p:spPr>
        <p:txBody>
          <a:bodyPr wrap="square">
            <a:spAutoFit/>
          </a:bodyPr>
          <a:lstStyle/>
          <a:p>
            <a:pPr>
              <a:spcAft>
                <a:spcPts val="800"/>
              </a:spcAft>
              <a:defRPr sz="1300" b="1">
                <a:solidFill>
                  <a:srgbClr val="0B2545"/>
                </a:solidFill>
                <a:latin typeface="Georgia"/>
              </a:defRPr>
            </a:pPr>
            <a:r>
              <a:t>Frontend Layer</a:t>
            </a:r>
          </a:p>
          <a:p>
            <a:pPr>
              <a:spcAft>
                <a:spcPts val="100"/>
              </a:spcAft>
              <a:defRPr sz="1050" b="1">
                <a:solidFill>
                  <a:srgbClr val="0D9488"/>
                </a:solidFill>
                <a:latin typeface="Calibri"/>
              </a:defRPr>
            </a:pPr>
            <a:r>
              <a:t>• HTML5 &amp; Modern CSS3</a:t>
            </a:r>
          </a:p>
          <a:p>
            <a:pPr>
              <a:spcAft>
                <a:spcPts val="600"/>
              </a:spcAft>
              <a:defRPr sz="950">
                <a:solidFill>
                  <a:srgbClr val="1E293B"/>
                </a:solidFill>
                <a:latin typeface="Calibri"/>
              </a:defRPr>
            </a:pPr>
            <a:r>
              <a:t>Semantic structure, responsive tokens in style.css &amp; responsive.css</a:t>
            </a:r>
          </a:p>
          <a:p>
            <a:pPr>
              <a:spcAft>
                <a:spcPts val="100"/>
              </a:spcAft>
              <a:defRPr sz="1050" b="1">
                <a:solidFill>
                  <a:srgbClr val="0D9488"/>
                </a:solidFill>
                <a:latin typeface="Calibri"/>
              </a:defRPr>
            </a:pPr>
            <a:r>
              <a:t>• Bootstrap 5.3 &amp; Icons</a:t>
            </a:r>
          </a:p>
          <a:p>
            <a:pPr>
              <a:spcAft>
                <a:spcPts val="600"/>
              </a:spcAft>
              <a:defRPr sz="950">
                <a:solidFill>
                  <a:srgbClr val="1E293B"/>
                </a:solidFill>
                <a:latin typeface="Calibri"/>
              </a:defRPr>
            </a:pPr>
            <a:r>
              <a:t>Clean responsive UI framework, projector-optimized high-contrast layout</a:t>
            </a:r>
          </a:p>
          <a:p>
            <a:pPr>
              <a:spcAft>
                <a:spcPts val="100"/>
              </a:spcAft>
              <a:defRPr sz="1050" b="1">
                <a:solidFill>
                  <a:srgbClr val="0D9488"/>
                </a:solidFill>
                <a:latin typeface="Calibri"/>
              </a:defRPr>
            </a:pPr>
            <a:r>
              <a:t>• Vanilla JavaScript (ES6+)</a:t>
            </a:r>
          </a:p>
          <a:p>
            <a:pPr>
              <a:spcAft>
                <a:spcPts val="600"/>
              </a:spcAft>
              <a:defRPr sz="950">
                <a:solidFill>
                  <a:srgbClr val="1E293B"/>
                </a:solidFill>
                <a:latin typeface="Calibri"/>
              </a:defRPr>
            </a:pPr>
            <a:r>
              <a:t>Fetch API, asynchronous state handling, zero heavy build dependencies</a:t>
            </a:r>
          </a:p>
          <a:p>
            <a:pPr>
              <a:spcAft>
                <a:spcPts val="100"/>
              </a:spcAft>
              <a:defRPr sz="1050" b="1">
                <a:solidFill>
                  <a:srgbClr val="0D9488"/>
                </a:solidFill>
                <a:latin typeface="Calibri"/>
              </a:defRPr>
            </a:pPr>
            <a:r>
              <a:t>• Chart.js Visualization</a:t>
            </a:r>
          </a:p>
          <a:p>
            <a:pPr>
              <a:spcAft>
                <a:spcPts val="600"/>
              </a:spcAft>
              <a:defRPr sz="950">
                <a:solidFill>
                  <a:srgbClr val="1E293B"/>
                </a:solidFill>
                <a:latin typeface="Calibri"/>
              </a:defRPr>
            </a:pPr>
            <a:r>
              <a:t>Interactive doughnut &amp; bar charts for real-time fund distribution</a:t>
            </a:r>
          </a:p>
        </p:txBody>
      </p:sp>
      <p:sp>
        <p:nvSpPr>
          <p:cNvPr id="7" name="Rounded Rectangle 6"/>
          <p:cNvSpPr/>
          <p:nvPr/>
        </p:nvSpPr>
        <p:spPr>
          <a:xfrm>
            <a:off x="3474720" y="1645920"/>
            <a:ext cx="2523744"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474720" y="1645920"/>
            <a:ext cx="2523744" cy="91440"/>
          </a:xfrm>
          <a:prstGeom prst="rect">
            <a:avLst/>
          </a:prstGeom>
          <a:solidFill>
            <a:srgbClr val="1340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11880" y="1828800"/>
            <a:ext cx="2249424" cy="4389120"/>
          </a:xfrm>
          <a:prstGeom prst="rect">
            <a:avLst/>
          </a:prstGeom>
          <a:noFill/>
        </p:spPr>
        <p:txBody>
          <a:bodyPr wrap="square">
            <a:spAutoFit/>
          </a:bodyPr>
          <a:lstStyle/>
          <a:p>
            <a:pPr>
              <a:spcAft>
                <a:spcPts val="800"/>
              </a:spcAft>
              <a:defRPr sz="1300" b="1">
                <a:solidFill>
                  <a:srgbClr val="0B2545"/>
                </a:solidFill>
                <a:latin typeface="Georgia"/>
              </a:defRPr>
            </a:pPr>
            <a:r>
              <a:t>Backend Kernel</a:t>
            </a:r>
          </a:p>
          <a:p>
            <a:pPr>
              <a:spcAft>
                <a:spcPts val="100"/>
              </a:spcAft>
              <a:defRPr sz="1050" b="1">
                <a:solidFill>
                  <a:srgbClr val="134074"/>
                </a:solidFill>
                <a:latin typeface="Calibri"/>
              </a:defRPr>
            </a:pPr>
            <a:r>
              <a:t>• Python 3.12+ / 3.14+</a:t>
            </a:r>
          </a:p>
          <a:p>
            <a:pPr>
              <a:spcAft>
                <a:spcPts val="600"/>
              </a:spcAft>
              <a:defRPr sz="950">
                <a:solidFill>
                  <a:srgbClr val="1E293B"/>
                </a:solidFill>
                <a:latin typeface="Calibri"/>
              </a:defRPr>
            </a:pPr>
            <a:r>
              <a:t>High-level robust backend programming language with Decimal arithmetic</a:t>
            </a:r>
          </a:p>
          <a:p>
            <a:pPr>
              <a:spcAft>
                <a:spcPts val="100"/>
              </a:spcAft>
              <a:defRPr sz="1050" b="1">
                <a:solidFill>
                  <a:srgbClr val="134074"/>
                </a:solidFill>
                <a:latin typeface="Calibri"/>
              </a:defRPr>
            </a:pPr>
            <a:r>
              <a:t>• Django 5.2+</a:t>
            </a:r>
          </a:p>
          <a:p>
            <a:pPr>
              <a:spcAft>
                <a:spcPts val="600"/>
              </a:spcAft>
              <a:defRPr sz="950">
                <a:solidFill>
                  <a:srgbClr val="1E293B"/>
                </a:solidFill>
                <a:latin typeface="Calibri"/>
              </a:defRPr>
            </a:pPr>
            <a:r>
              <a:t>Enterprise web framework with ORM, built-in security, and migrations</a:t>
            </a:r>
          </a:p>
          <a:p>
            <a:pPr>
              <a:spcAft>
                <a:spcPts val="100"/>
              </a:spcAft>
              <a:defRPr sz="1050" b="1">
                <a:solidFill>
                  <a:srgbClr val="134074"/>
                </a:solidFill>
                <a:latin typeface="Calibri"/>
              </a:defRPr>
            </a:pPr>
            <a:r>
              <a:t>• Django REST Framework</a:t>
            </a:r>
          </a:p>
          <a:p>
            <a:pPr>
              <a:spcAft>
                <a:spcPts val="600"/>
              </a:spcAft>
              <a:defRPr sz="950">
                <a:solidFill>
                  <a:srgbClr val="1E293B"/>
                </a:solidFill>
                <a:latin typeface="Calibri"/>
              </a:defRPr>
            </a:pPr>
            <a:r>
              <a:t>Production REST API endpoints with serializers, permissions, and filters</a:t>
            </a:r>
          </a:p>
          <a:p>
            <a:pPr>
              <a:spcAft>
                <a:spcPts val="100"/>
              </a:spcAft>
              <a:defRPr sz="1050" b="1">
                <a:solidFill>
                  <a:srgbClr val="134074"/>
                </a:solidFill>
                <a:latin typeface="Calibri"/>
              </a:defRPr>
            </a:pPr>
            <a:r>
              <a:t>• SimpleJWT Authentication</a:t>
            </a:r>
          </a:p>
          <a:p>
            <a:pPr>
              <a:spcAft>
                <a:spcPts val="600"/>
              </a:spcAft>
              <a:defRPr sz="950">
                <a:solidFill>
                  <a:srgbClr val="1E293B"/>
                </a:solidFill>
                <a:latin typeface="Calibri"/>
              </a:defRPr>
            </a:pPr>
            <a:r>
              <a:t>Stateless JSON Web Tokens (access &amp; refresh) with RBAC enforcement</a:t>
            </a:r>
          </a:p>
          <a:p>
            <a:pPr>
              <a:spcAft>
                <a:spcPts val="100"/>
              </a:spcAft>
              <a:defRPr sz="1050" b="1">
                <a:solidFill>
                  <a:srgbClr val="134074"/>
                </a:solidFill>
                <a:latin typeface="Calibri"/>
              </a:defRPr>
            </a:pPr>
            <a:r>
              <a:t>• ReportLab 5.0+</a:t>
            </a:r>
          </a:p>
          <a:p>
            <a:pPr>
              <a:spcAft>
                <a:spcPts val="600"/>
              </a:spcAft>
              <a:defRPr sz="950">
                <a:solidFill>
                  <a:srgbClr val="1E293B"/>
                </a:solidFill>
                <a:latin typeface="Calibri"/>
              </a:defRPr>
            </a:pPr>
            <a:r>
              <a:t>Two-pass dynamic PDF report generation with custom canvases</a:t>
            </a:r>
          </a:p>
        </p:txBody>
      </p:sp>
      <p:sp>
        <p:nvSpPr>
          <p:cNvPr id="10" name="Rounded Rectangle 9"/>
          <p:cNvSpPr/>
          <p:nvPr/>
        </p:nvSpPr>
        <p:spPr>
          <a:xfrm>
            <a:off x="6217920" y="1645920"/>
            <a:ext cx="2523744"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1645920"/>
            <a:ext cx="2523744" cy="91440"/>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1828800"/>
            <a:ext cx="2249424" cy="4389120"/>
          </a:xfrm>
          <a:prstGeom prst="rect">
            <a:avLst/>
          </a:prstGeom>
          <a:noFill/>
        </p:spPr>
        <p:txBody>
          <a:bodyPr wrap="square">
            <a:spAutoFit/>
          </a:bodyPr>
          <a:lstStyle/>
          <a:p>
            <a:pPr>
              <a:spcAft>
                <a:spcPts val="800"/>
              </a:spcAft>
              <a:defRPr sz="1300" b="1">
                <a:solidFill>
                  <a:srgbClr val="0B2545"/>
                </a:solidFill>
                <a:latin typeface="Georgia"/>
              </a:defRPr>
            </a:pPr>
            <a:r>
              <a:t>Data Persistence</a:t>
            </a:r>
          </a:p>
          <a:p>
            <a:pPr>
              <a:spcAft>
                <a:spcPts val="100"/>
              </a:spcAft>
              <a:defRPr sz="1050" b="1">
                <a:solidFill>
                  <a:srgbClr val="0B2545"/>
                </a:solidFill>
                <a:latin typeface="Calibri"/>
              </a:defRPr>
            </a:pPr>
            <a:r>
              <a:t>• Relational ACID Database</a:t>
            </a:r>
          </a:p>
          <a:p>
            <a:pPr>
              <a:spcAft>
                <a:spcPts val="600"/>
              </a:spcAft>
              <a:defRPr sz="950">
                <a:solidFill>
                  <a:srgbClr val="1E293B"/>
                </a:solidFill>
                <a:latin typeface="Calibri"/>
              </a:defRPr>
            </a:pPr>
            <a:r>
              <a:t>SQLite3 for zero-setup local dev; PostgreSQL for production containers</a:t>
            </a:r>
          </a:p>
          <a:p>
            <a:pPr>
              <a:spcAft>
                <a:spcPts val="100"/>
              </a:spcAft>
              <a:defRPr sz="1050" b="1">
                <a:solidFill>
                  <a:srgbClr val="0B2545"/>
                </a:solidFill>
                <a:latin typeface="Calibri"/>
              </a:defRPr>
            </a:pPr>
            <a:r>
              <a:t>• Pessimistic Row Locking</a:t>
            </a:r>
          </a:p>
          <a:p>
            <a:pPr>
              <a:spcAft>
                <a:spcPts val="600"/>
              </a:spcAft>
              <a:defRPr sz="950">
                <a:solidFill>
                  <a:srgbClr val="1E293B"/>
                </a:solidFill>
                <a:latin typeface="Calibri"/>
              </a:defRPr>
            </a:pPr>
            <a:r>
              <a:t>SELECT FOR UPDATE database transactions preventing race conditions</a:t>
            </a:r>
          </a:p>
          <a:p>
            <a:pPr>
              <a:spcAft>
                <a:spcPts val="100"/>
              </a:spcAft>
              <a:defRPr sz="1050" b="1">
                <a:solidFill>
                  <a:srgbClr val="0B2545"/>
                </a:solidFill>
                <a:latin typeface="Calibri"/>
              </a:defRPr>
            </a:pPr>
            <a:r>
              <a:t>• Composite Unique Indexes</a:t>
            </a:r>
          </a:p>
          <a:p>
            <a:pPr>
              <a:spcAft>
                <a:spcPts val="600"/>
              </a:spcAft>
              <a:defRPr sz="950">
                <a:solidFill>
                  <a:srgbClr val="1E293B"/>
                </a:solidFill>
                <a:latin typeface="Calibri"/>
              </a:defRPr>
            </a:pPr>
            <a:r>
              <a:t>(doctor, session_date, token_number) ensuring uniqueness</a:t>
            </a:r>
          </a:p>
          <a:p>
            <a:pPr>
              <a:spcAft>
                <a:spcPts val="100"/>
              </a:spcAft>
              <a:defRPr sz="1050" b="1">
                <a:solidFill>
                  <a:srgbClr val="0B2545"/>
                </a:solidFill>
                <a:latin typeface="Calibri"/>
              </a:defRPr>
            </a:pPr>
            <a:r>
              <a:t>• Append-Only Ledger</a:t>
            </a:r>
          </a:p>
          <a:p>
            <a:pPr>
              <a:spcAft>
                <a:spcPts val="600"/>
              </a:spcAft>
              <a:defRPr sz="950">
                <a:solidFill>
                  <a:srgbClr val="1E293B"/>
                </a:solidFill>
                <a:latin typeface="Calibri"/>
              </a:defRPr>
            </a:pPr>
            <a:r>
              <a:t>Immutable ReserveLedgerEntry table blocking update mutations</a:t>
            </a:r>
          </a:p>
        </p:txBody>
      </p:sp>
      <p:sp>
        <p:nvSpPr>
          <p:cNvPr id="13" name="Rounded Rectangle 12"/>
          <p:cNvSpPr/>
          <p:nvPr/>
        </p:nvSpPr>
        <p:spPr>
          <a:xfrm>
            <a:off x="8961120" y="1645920"/>
            <a:ext cx="2523744"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961120" y="1645920"/>
            <a:ext cx="2523744" cy="9144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098280" y="1828800"/>
            <a:ext cx="2249424" cy="4389120"/>
          </a:xfrm>
          <a:prstGeom prst="rect">
            <a:avLst/>
          </a:prstGeom>
          <a:noFill/>
        </p:spPr>
        <p:txBody>
          <a:bodyPr wrap="square">
            <a:spAutoFit/>
          </a:bodyPr>
          <a:lstStyle/>
          <a:p>
            <a:pPr>
              <a:spcAft>
                <a:spcPts val="800"/>
              </a:spcAft>
              <a:defRPr sz="1300" b="1">
                <a:solidFill>
                  <a:srgbClr val="0B2545"/>
                </a:solidFill>
                <a:latin typeface="Georgia"/>
              </a:defRPr>
            </a:pPr>
            <a:r>
              <a:t>Gateway &amp; DevOps</a:t>
            </a:r>
          </a:p>
          <a:p>
            <a:pPr>
              <a:spcAft>
                <a:spcPts val="100"/>
              </a:spcAft>
              <a:defRPr sz="1050" b="1">
                <a:solidFill>
                  <a:srgbClr val="D97706"/>
                </a:solidFill>
                <a:latin typeface="Calibri"/>
              </a:defRPr>
            </a:pPr>
            <a:r>
              <a:t>• Node.js Web Gateway</a:t>
            </a:r>
          </a:p>
          <a:p>
            <a:pPr>
              <a:spcAft>
                <a:spcPts val="600"/>
              </a:spcAft>
              <a:defRPr sz="950">
                <a:solidFill>
                  <a:srgbClr val="1E293B"/>
                </a:solidFill>
                <a:latin typeface="Calibri"/>
              </a:defRPr>
            </a:pPr>
            <a:r>
              <a:t>server.js listening on Port 3000 streaming static assets and API proxying</a:t>
            </a:r>
          </a:p>
          <a:p>
            <a:pPr>
              <a:spcAft>
                <a:spcPts val="100"/>
              </a:spcAft>
              <a:defRPr sz="1050" b="1">
                <a:solidFill>
                  <a:srgbClr val="D97706"/>
                </a:solidFill>
                <a:latin typeface="Calibri"/>
              </a:defRPr>
            </a:pPr>
            <a:r>
              <a:t>• Dual-Server Launcher</a:t>
            </a:r>
          </a:p>
          <a:p>
            <a:pPr>
              <a:spcAft>
                <a:spcPts val="600"/>
              </a:spcAft>
              <a:defRPr sz="950">
                <a:solidFill>
                  <a:srgbClr val="1E293B"/>
                </a:solidFill>
                <a:latin typeface="Calibri"/>
              </a:defRPr>
            </a:pPr>
            <a:r>
              <a:t>run_system.py managing concurrent Django + Node processes</a:t>
            </a:r>
          </a:p>
          <a:p>
            <a:pPr>
              <a:spcAft>
                <a:spcPts val="100"/>
              </a:spcAft>
              <a:defRPr sz="1050" b="1">
                <a:solidFill>
                  <a:srgbClr val="D97706"/>
                </a:solidFill>
                <a:latin typeface="Calibri"/>
              </a:defRPr>
            </a:pPr>
            <a:r>
              <a:t>• Docker &amp; Docker Compose</a:t>
            </a:r>
          </a:p>
          <a:p>
            <a:pPr>
              <a:spcAft>
                <a:spcPts val="600"/>
              </a:spcAft>
              <a:defRPr sz="950">
                <a:solidFill>
                  <a:srgbClr val="1E293B"/>
                </a:solidFill>
                <a:latin typeface="Calibri"/>
              </a:defRPr>
            </a:pPr>
            <a:r>
              <a:t>Multi-container containerization with Gunicorn &amp; Nginx reverse proxy</a:t>
            </a:r>
          </a:p>
          <a:p>
            <a:pPr>
              <a:spcAft>
                <a:spcPts val="100"/>
              </a:spcAft>
              <a:defRPr sz="1050" b="1">
                <a:solidFill>
                  <a:srgbClr val="D97706"/>
                </a:solidFill>
                <a:latin typeface="Calibri"/>
              </a:defRPr>
            </a:pPr>
            <a:r>
              <a:t>• Cloudflare Edge Tunnel</a:t>
            </a:r>
          </a:p>
          <a:p>
            <a:pPr>
              <a:spcAft>
                <a:spcPts val="600"/>
              </a:spcAft>
              <a:defRPr sz="950">
                <a:solidFill>
                  <a:srgbClr val="1E293B"/>
                </a:solidFill>
                <a:latin typeface="Calibri"/>
              </a:defRPr>
            </a:pPr>
            <a:r>
              <a:t>Secure cloudflared tunnel exposing HTTPS with QUIC &amp; HTTP/2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1050" b="1">
                <a:solidFill>
                  <a:srgbClr val="0D9488"/>
                </a:solidFill>
                <a:latin typeface="Calibri"/>
              </a:defRPr>
            </a:pPr>
            <a:r>
              <a:t>ARCHITECTURAL TOPOLOGY</a:t>
            </a:r>
          </a:p>
          <a:p>
            <a:pPr>
              <a:defRPr sz="2200" b="1">
                <a:solidFill>
                  <a:srgbClr val="0B2545"/>
                </a:solidFill>
                <a:latin typeface="Georgia"/>
              </a:defRPr>
            </a:pPr>
            <a:r>
              <a:t>Multi-Tier Decoupled System Architecture</a:t>
            </a:r>
          </a:p>
          <a:p>
            <a:pPr>
              <a:spcBef>
                <a:spcPts val="200"/>
              </a:spcBef>
              <a:defRPr sz="1150">
                <a:solidFill>
                  <a:srgbClr val="475569"/>
                </a:solidFill>
                <a:latin typeface="Calibri"/>
              </a:defRPr>
            </a:pPr>
            <a:r>
              <a:t>Asynchronous, event-driven architecture connecting clients, gateway, core, and persistence layers.</a:t>
            </a:r>
          </a:p>
        </p:txBody>
      </p:sp>
      <p:sp>
        <p:nvSpPr>
          <p:cNvPr id="4" name="Rounded Rectangle 3"/>
          <p:cNvSpPr/>
          <p:nvPr/>
        </p:nvSpPr>
        <p:spPr>
          <a:xfrm>
            <a:off x="731520" y="1645920"/>
            <a:ext cx="6583680"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1_system_architecture.jpg"/>
          <p:cNvPicPr>
            <a:picLocks noChangeAspect="1"/>
          </p:cNvPicPr>
          <p:nvPr/>
        </p:nvPicPr>
        <p:blipFill>
          <a:blip r:embed="rId2"/>
          <a:stretch>
            <a:fillRect/>
          </a:stretch>
        </p:blipFill>
        <p:spPr>
          <a:xfrm>
            <a:off x="822960" y="1737360"/>
            <a:ext cx="6400800" cy="4480560"/>
          </a:xfrm>
          <a:prstGeom prst="rect">
            <a:avLst/>
          </a:prstGeom>
        </p:spPr>
      </p:pic>
      <p:sp>
        <p:nvSpPr>
          <p:cNvPr id="6" name="Rounded Rectangle 5"/>
          <p:cNvSpPr/>
          <p:nvPr/>
        </p:nvSpPr>
        <p:spPr>
          <a:xfrm>
            <a:off x="7498079" y="1645920"/>
            <a:ext cx="3962095" cy="1097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79" y="1645920"/>
            <a:ext cx="109728" cy="109728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59" y="1737360"/>
            <a:ext cx="3687775" cy="914400"/>
          </a:xfrm>
          <a:prstGeom prst="rect">
            <a:avLst/>
          </a:prstGeom>
          <a:noFill/>
        </p:spPr>
        <p:txBody>
          <a:bodyPr wrap="square">
            <a:spAutoFit/>
          </a:bodyPr>
          <a:lstStyle/>
          <a:p>
            <a:pPr>
              <a:spcAft>
                <a:spcPts val="200"/>
              </a:spcAft>
              <a:defRPr sz="1100" b="1">
                <a:solidFill>
                  <a:srgbClr val="0B2545"/>
                </a:solidFill>
                <a:latin typeface="Georgia"/>
              </a:defRPr>
            </a:pPr>
            <a:r>
              <a:t>1. Edge &amp; Client Tier</a:t>
            </a:r>
          </a:p>
          <a:p>
            <a:pPr>
              <a:defRPr sz="950">
                <a:solidFill>
                  <a:srgbClr val="1E293B"/>
                </a:solidFill>
                <a:latin typeface="Calibri"/>
              </a:defRPr>
            </a:pPr>
            <a:r>
              <a:t>Desktop, tablet, and mobile browsers connect through a secure Cloudflare Edge Tunnel utilizing HTTP/2 and QUIC multiplexing.</a:t>
            </a:r>
          </a:p>
        </p:txBody>
      </p:sp>
      <p:sp>
        <p:nvSpPr>
          <p:cNvPr id="9" name="Rounded Rectangle 8"/>
          <p:cNvSpPr/>
          <p:nvPr/>
        </p:nvSpPr>
        <p:spPr>
          <a:xfrm>
            <a:off x="7498079" y="2816352"/>
            <a:ext cx="3962095" cy="1097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498079" y="2816352"/>
            <a:ext cx="109728" cy="1097280"/>
          </a:xfrm>
          <a:prstGeom prst="rect">
            <a:avLst/>
          </a:prstGeom>
          <a:solidFill>
            <a:srgbClr val="1340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59" y="2907792"/>
            <a:ext cx="3687775" cy="914400"/>
          </a:xfrm>
          <a:prstGeom prst="rect">
            <a:avLst/>
          </a:prstGeom>
          <a:noFill/>
        </p:spPr>
        <p:txBody>
          <a:bodyPr wrap="square">
            <a:spAutoFit/>
          </a:bodyPr>
          <a:lstStyle/>
          <a:p>
            <a:pPr>
              <a:spcAft>
                <a:spcPts val="200"/>
              </a:spcAft>
              <a:defRPr sz="1100" b="1">
                <a:solidFill>
                  <a:srgbClr val="0B2545"/>
                </a:solidFill>
                <a:latin typeface="Georgia"/>
              </a:defRPr>
            </a:pPr>
            <a:r>
              <a:t>2. Gateway &amp; Proxy Tier</a:t>
            </a:r>
          </a:p>
          <a:p>
            <a:pPr>
              <a:defRPr sz="950">
                <a:solidFill>
                  <a:srgbClr val="1E293B"/>
                </a:solidFill>
                <a:latin typeface="Calibri"/>
              </a:defRPr>
            </a:pPr>
            <a:r>
              <a:t>Node.js microservice (`server.js`) on Port 3000 serves static assets and reverse-proxies `/api/*` requests to Django with CORS header management.</a:t>
            </a:r>
          </a:p>
        </p:txBody>
      </p:sp>
      <p:sp>
        <p:nvSpPr>
          <p:cNvPr id="12" name="Rounded Rectangle 11"/>
          <p:cNvSpPr/>
          <p:nvPr/>
        </p:nvSpPr>
        <p:spPr>
          <a:xfrm>
            <a:off x="7498079" y="3986784"/>
            <a:ext cx="3962095" cy="1097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498079" y="3986784"/>
            <a:ext cx="109728" cy="1097280"/>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59" y="4078224"/>
            <a:ext cx="3687775" cy="914400"/>
          </a:xfrm>
          <a:prstGeom prst="rect">
            <a:avLst/>
          </a:prstGeom>
          <a:noFill/>
        </p:spPr>
        <p:txBody>
          <a:bodyPr wrap="square">
            <a:spAutoFit/>
          </a:bodyPr>
          <a:lstStyle/>
          <a:p>
            <a:pPr>
              <a:spcAft>
                <a:spcPts val="200"/>
              </a:spcAft>
              <a:defRPr sz="1100" b="1">
                <a:solidFill>
                  <a:srgbClr val="0B2545"/>
                </a:solidFill>
                <a:latin typeface="Georgia"/>
              </a:defRPr>
            </a:pPr>
            <a:r>
              <a:t>3. Django REST Kernel</a:t>
            </a:r>
          </a:p>
          <a:p>
            <a:pPr>
              <a:defRPr sz="950">
                <a:solidFill>
                  <a:srgbClr val="1E293B"/>
                </a:solidFill>
                <a:latin typeface="Calibri"/>
              </a:defRPr>
            </a:pPr>
            <a:r>
              <a:t>Django 5.2 application core on Port 8000 handling authentication, patient registration, clinical tokens, fund distribution, and audit trails.</a:t>
            </a:r>
          </a:p>
        </p:txBody>
      </p:sp>
      <p:sp>
        <p:nvSpPr>
          <p:cNvPr id="15" name="Rounded Rectangle 14"/>
          <p:cNvSpPr/>
          <p:nvPr/>
        </p:nvSpPr>
        <p:spPr>
          <a:xfrm>
            <a:off x="7498079" y="5157216"/>
            <a:ext cx="3962095" cy="1097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79" y="5157216"/>
            <a:ext cx="109728" cy="109728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59" y="5248656"/>
            <a:ext cx="3687775" cy="914400"/>
          </a:xfrm>
          <a:prstGeom prst="rect">
            <a:avLst/>
          </a:prstGeom>
          <a:noFill/>
        </p:spPr>
        <p:txBody>
          <a:bodyPr wrap="square">
            <a:spAutoFit/>
          </a:bodyPr>
          <a:lstStyle/>
          <a:p>
            <a:pPr>
              <a:spcAft>
                <a:spcPts val="200"/>
              </a:spcAft>
              <a:defRPr sz="1100" b="1">
                <a:solidFill>
                  <a:srgbClr val="0B2545"/>
                </a:solidFill>
                <a:latin typeface="Georgia"/>
              </a:defRPr>
            </a:pPr>
            <a:r>
              <a:t>4. Persistence &amp; Ledger Tier</a:t>
            </a:r>
          </a:p>
          <a:p>
            <a:pPr>
              <a:defRPr sz="950">
                <a:solidFill>
                  <a:srgbClr val="1E293B"/>
                </a:solidFill>
                <a:latin typeface="Calibri"/>
              </a:defRPr>
            </a:pPr>
            <a:r>
              <a:t>Relational database maintaining ACID transaction boundaries with pessimistic locking (`select_for_update`) and immutable audit logs.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1050" b="1">
                <a:solidFill>
                  <a:srgbClr val="0D9488"/>
                </a:solidFill>
                <a:latin typeface="Calibri"/>
              </a:defRPr>
            </a:pPr>
            <a:r>
              <a:t>FUNCTIONAL DECOMPOSITION</a:t>
            </a:r>
          </a:p>
          <a:p>
            <a:pPr>
              <a:defRPr sz="2200" b="1">
                <a:solidFill>
                  <a:srgbClr val="0B2545"/>
                </a:solidFill>
                <a:latin typeface="Georgia"/>
              </a:defRPr>
            </a:pPr>
            <a:r>
              <a:t>Main System Modules &amp; Role-Based Access Control (RBAC)</a:t>
            </a:r>
          </a:p>
          <a:p>
            <a:pPr>
              <a:spcBef>
                <a:spcPts val="200"/>
              </a:spcBef>
              <a:defRPr sz="1150">
                <a:solidFill>
                  <a:srgbClr val="475569"/>
                </a:solidFill>
                <a:latin typeface="Calibri"/>
              </a:defRPr>
            </a:pPr>
            <a:r>
              <a:t>Strict security partitioning across six distinct healthcare user personas.</a:t>
            </a:r>
          </a:p>
        </p:txBody>
      </p:sp>
      <p:sp>
        <p:nvSpPr>
          <p:cNvPr id="4" name="Rounded Rectangle 3"/>
          <p:cNvSpPr/>
          <p:nvPr/>
        </p:nvSpPr>
        <p:spPr>
          <a:xfrm>
            <a:off x="731520" y="1645920"/>
            <a:ext cx="3328416" cy="2194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68680" y="1755648"/>
            <a:ext cx="1097280" cy="256032"/>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latin typeface="Calibri"/>
              </a:defRPr>
            </a:pPr>
            <a:r>
              <a:t>PATIENT</a:t>
            </a:r>
          </a:p>
        </p:txBody>
      </p:sp>
      <p:sp>
        <p:nvSpPr>
          <p:cNvPr id="6" name="TextBox 5"/>
          <p:cNvSpPr txBox="1"/>
          <p:nvPr/>
        </p:nvSpPr>
        <p:spPr>
          <a:xfrm>
            <a:off x="868680" y="2048256"/>
            <a:ext cx="3054096" cy="1737360"/>
          </a:xfrm>
          <a:prstGeom prst="rect">
            <a:avLst/>
          </a:prstGeom>
          <a:noFill/>
        </p:spPr>
        <p:txBody>
          <a:bodyPr wrap="square">
            <a:spAutoFit/>
          </a:bodyPr>
          <a:lstStyle/>
          <a:p>
            <a:pPr>
              <a:spcAft>
                <a:spcPts val="400"/>
              </a:spcAft>
              <a:defRPr sz="1200" b="1">
                <a:solidFill>
                  <a:srgbClr val="0B2545"/>
                </a:solidFill>
                <a:latin typeface="Georgia"/>
              </a:defRPr>
            </a:pPr>
            <a:r>
              <a:t>Patient Portal</a:t>
            </a:r>
          </a:p>
          <a:p>
            <a:pPr>
              <a:spcAft>
                <a:spcPts val="150"/>
              </a:spcAft>
              <a:defRPr sz="950">
                <a:solidFill>
                  <a:srgbClr val="1E293B"/>
                </a:solidFill>
                <a:latin typeface="Calibri"/>
              </a:defRPr>
            </a:pPr>
            <a:r>
              <a:t>• Self-registration with PAN format verification</a:t>
            </a:r>
          </a:p>
          <a:p>
            <a:pPr>
              <a:spcAft>
                <a:spcPts val="150"/>
              </a:spcAft>
              <a:defRPr sz="950">
                <a:solidFill>
                  <a:srgbClr val="1E293B"/>
                </a:solidFill>
                <a:latin typeface="Calibri"/>
              </a:defRPr>
            </a:pPr>
            <a:r>
              <a:t>• Healthcare Assurance Card (HAC) Pass generation</a:t>
            </a:r>
          </a:p>
          <a:p>
            <a:pPr>
              <a:spcAft>
                <a:spcPts val="150"/>
              </a:spcAft>
              <a:defRPr sz="950">
                <a:solidFill>
                  <a:srgbClr val="1E293B"/>
                </a:solidFill>
                <a:latin typeface="Calibri"/>
              </a:defRPr>
            </a:pPr>
            <a:r>
              <a:t>• AI symptom triage &amp; doctor appointment booking</a:t>
            </a:r>
          </a:p>
          <a:p>
            <a:pPr>
              <a:spcAft>
                <a:spcPts val="150"/>
              </a:spcAft>
              <a:defRPr sz="950">
                <a:solidFill>
                  <a:srgbClr val="1E293B"/>
                </a:solidFill>
                <a:latin typeface="Calibri"/>
              </a:defRPr>
            </a:pPr>
            <a:r>
              <a:t>• Longitudinal medical timeline &amp; 90% reserve balance</a:t>
            </a:r>
          </a:p>
        </p:txBody>
      </p:sp>
      <p:sp>
        <p:nvSpPr>
          <p:cNvPr id="7" name="Rounded Rectangle 6"/>
          <p:cNvSpPr/>
          <p:nvPr/>
        </p:nvSpPr>
        <p:spPr>
          <a:xfrm>
            <a:off x="4425696" y="1645920"/>
            <a:ext cx="3328416" cy="2194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562856" y="1755648"/>
            <a:ext cx="1097280" cy="256032"/>
          </a:xfrm>
          <a:prstGeom prst="roundRect">
            <a:avLst/>
          </a:prstGeom>
          <a:solidFill>
            <a:srgbClr val="1340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latin typeface="Calibri"/>
              </a:defRPr>
            </a:pPr>
            <a:r>
              <a:t>DOCTOR</a:t>
            </a:r>
          </a:p>
        </p:txBody>
      </p:sp>
      <p:sp>
        <p:nvSpPr>
          <p:cNvPr id="9" name="TextBox 8"/>
          <p:cNvSpPr txBox="1"/>
          <p:nvPr/>
        </p:nvSpPr>
        <p:spPr>
          <a:xfrm>
            <a:off x="4562856" y="2048256"/>
            <a:ext cx="3054096" cy="1737360"/>
          </a:xfrm>
          <a:prstGeom prst="rect">
            <a:avLst/>
          </a:prstGeom>
          <a:noFill/>
        </p:spPr>
        <p:txBody>
          <a:bodyPr wrap="square">
            <a:spAutoFit/>
          </a:bodyPr>
          <a:lstStyle/>
          <a:p>
            <a:pPr>
              <a:spcAft>
                <a:spcPts val="400"/>
              </a:spcAft>
              <a:defRPr sz="1200" b="1">
                <a:solidFill>
                  <a:srgbClr val="0B2545"/>
                </a:solidFill>
                <a:latin typeface="Georgia"/>
              </a:defRPr>
            </a:pPr>
            <a:r>
              <a:t>Doctor Portal</a:t>
            </a:r>
          </a:p>
          <a:p>
            <a:pPr>
              <a:spcAft>
                <a:spcPts val="150"/>
              </a:spcAft>
              <a:defRPr sz="950">
                <a:solidFill>
                  <a:srgbClr val="1E293B"/>
                </a:solidFill>
                <a:latin typeface="Calibri"/>
              </a:defRPr>
            </a:pPr>
            <a:r>
              <a:t>• Real-time OPD appointment queue management</a:t>
            </a:r>
          </a:p>
          <a:p>
            <a:pPr>
              <a:spcAft>
                <a:spcPts val="150"/>
              </a:spcAft>
              <a:defRPr sz="950">
                <a:solidFill>
                  <a:srgbClr val="1E293B"/>
                </a:solidFill>
                <a:latin typeface="Calibri"/>
              </a:defRPr>
            </a:pPr>
            <a:r>
              <a:t>• Atomic token calling: Waiting -&gt; In Consultation -&gt; Done</a:t>
            </a:r>
          </a:p>
          <a:p>
            <a:pPr>
              <a:spcAft>
                <a:spcPts val="150"/>
              </a:spcAft>
              <a:defRPr sz="950">
                <a:solidFill>
                  <a:srgbClr val="1E293B"/>
                </a:solidFill>
                <a:latin typeface="Calibri"/>
              </a:defRPr>
            </a:pPr>
            <a:r>
              <a:t>• Clinical diagnosis, ICD-10 notes &amp; treatment plan</a:t>
            </a:r>
          </a:p>
          <a:p>
            <a:pPr>
              <a:spcAft>
                <a:spcPts val="150"/>
              </a:spcAft>
              <a:defRPr sz="950">
                <a:solidFill>
                  <a:srgbClr val="1E293B"/>
                </a:solidFill>
                <a:latin typeface="Calibri"/>
              </a:defRPr>
            </a:pPr>
            <a:r>
              <a:t>• Digital e-prescription issuance &amp; pathology referrals</a:t>
            </a:r>
          </a:p>
        </p:txBody>
      </p:sp>
      <p:sp>
        <p:nvSpPr>
          <p:cNvPr id="10" name="Rounded Rectangle 9"/>
          <p:cNvSpPr/>
          <p:nvPr/>
        </p:nvSpPr>
        <p:spPr>
          <a:xfrm>
            <a:off x="8119872" y="1645920"/>
            <a:ext cx="3328416" cy="2194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257032" y="1755648"/>
            <a:ext cx="1097280" cy="256032"/>
          </a:xfrm>
          <a:prstGeom prst="round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latin typeface="Calibri"/>
              </a:defRPr>
            </a:pPr>
            <a:r>
              <a:t>PATHOLOGY</a:t>
            </a:r>
          </a:p>
        </p:txBody>
      </p:sp>
      <p:sp>
        <p:nvSpPr>
          <p:cNvPr id="12" name="TextBox 11"/>
          <p:cNvSpPr txBox="1"/>
          <p:nvPr/>
        </p:nvSpPr>
        <p:spPr>
          <a:xfrm>
            <a:off x="8257032" y="2048256"/>
            <a:ext cx="3054096" cy="1737360"/>
          </a:xfrm>
          <a:prstGeom prst="rect">
            <a:avLst/>
          </a:prstGeom>
          <a:noFill/>
        </p:spPr>
        <p:txBody>
          <a:bodyPr wrap="square">
            <a:spAutoFit/>
          </a:bodyPr>
          <a:lstStyle/>
          <a:p>
            <a:pPr>
              <a:spcAft>
                <a:spcPts val="400"/>
              </a:spcAft>
              <a:defRPr sz="1200" b="1">
                <a:solidFill>
                  <a:srgbClr val="0B2545"/>
                </a:solidFill>
                <a:latin typeface="Georgia"/>
              </a:defRPr>
            </a:pPr>
            <a:r>
              <a:t>Pathology Diagnostics</a:t>
            </a:r>
          </a:p>
          <a:p>
            <a:pPr>
              <a:spcAft>
                <a:spcPts val="150"/>
              </a:spcAft>
              <a:defRPr sz="950">
                <a:solidFill>
                  <a:srgbClr val="1E293B"/>
                </a:solidFill>
                <a:latin typeface="Calibri"/>
              </a:defRPr>
            </a:pPr>
            <a:r>
              <a:t>• Diagnostic lab profile &amp; test catalog configuration</a:t>
            </a:r>
          </a:p>
          <a:p>
            <a:pPr>
              <a:spcAft>
                <a:spcPts val="150"/>
              </a:spcAft>
              <a:defRPr sz="950">
                <a:solidFill>
                  <a:srgbClr val="1E293B"/>
                </a:solidFill>
                <a:latin typeface="Calibri"/>
              </a:defRPr>
            </a:pPr>
            <a:r>
              <a:t>• Patient lab investigation report entry &amp; upload</a:t>
            </a:r>
          </a:p>
          <a:p>
            <a:pPr>
              <a:spcAft>
                <a:spcPts val="150"/>
              </a:spcAft>
              <a:defRPr sz="950">
                <a:solidFill>
                  <a:srgbClr val="1E293B"/>
                </a:solidFill>
                <a:latin typeface="Calibri"/>
              </a:defRPr>
            </a:pPr>
            <a:r>
              <a:t>• Clinical parameter certification &amp; verified findings</a:t>
            </a:r>
          </a:p>
          <a:p>
            <a:pPr>
              <a:spcAft>
                <a:spcPts val="150"/>
              </a:spcAft>
              <a:defRPr sz="950">
                <a:solidFill>
                  <a:srgbClr val="1E293B"/>
                </a:solidFill>
                <a:latin typeface="Calibri"/>
              </a:defRPr>
            </a:pPr>
            <a:r>
              <a:t>• 0% GST healthcare exemption compliance</a:t>
            </a:r>
          </a:p>
        </p:txBody>
      </p:sp>
      <p:sp>
        <p:nvSpPr>
          <p:cNvPr id="13" name="Rounded Rectangle 12"/>
          <p:cNvSpPr/>
          <p:nvPr/>
        </p:nvSpPr>
        <p:spPr>
          <a:xfrm>
            <a:off x="731520" y="4023360"/>
            <a:ext cx="3328416" cy="2194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68680" y="4133088"/>
            <a:ext cx="1097280" cy="256032"/>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latin typeface="Calibri"/>
              </a:defRPr>
            </a:pPr>
            <a:r>
              <a:t>PHARMACY</a:t>
            </a:r>
          </a:p>
        </p:txBody>
      </p:sp>
      <p:sp>
        <p:nvSpPr>
          <p:cNvPr id="15" name="TextBox 14"/>
          <p:cNvSpPr txBox="1"/>
          <p:nvPr/>
        </p:nvSpPr>
        <p:spPr>
          <a:xfrm>
            <a:off x="868680" y="4425696"/>
            <a:ext cx="3054096" cy="1737360"/>
          </a:xfrm>
          <a:prstGeom prst="rect">
            <a:avLst/>
          </a:prstGeom>
          <a:noFill/>
        </p:spPr>
        <p:txBody>
          <a:bodyPr wrap="square">
            <a:spAutoFit/>
          </a:bodyPr>
          <a:lstStyle/>
          <a:p>
            <a:pPr>
              <a:spcAft>
                <a:spcPts val="400"/>
              </a:spcAft>
              <a:defRPr sz="1200" b="1">
                <a:solidFill>
                  <a:srgbClr val="0B2545"/>
                </a:solidFill>
                <a:latin typeface="Georgia"/>
              </a:defRPr>
            </a:pPr>
            <a:r>
              <a:t>Pharmacy Dispensary</a:t>
            </a:r>
          </a:p>
          <a:p>
            <a:pPr>
              <a:spcAft>
                <a:spcPts val="150"/>
              </a:spcAft>
              <a:defRPr sz="950">
                <a:solidFill>
                  <a:srgbClr val="1E293B"/>
                </a:solidFill>
                <a:latin typeface="Calibri"/>
              </a:defRPr>
            </a:pPr>
            <a:r>
              <a:t>• Digital prescription lookup &amp; medicine validation</a:t>
            </a:r>
          </a:p>
          <a:p>
            <a:pPr>
              <a:spcAft>
                <a:spcPts val="150"/>
              </a:spcAft>
              <a:defRPr sz="950">
                <a:solidFill>
                  <a:srgbClr val="1E293B"/>
                </a:solidFill>
                <a:latin typeface="Calibri"/>
              </a:defRPr>
            </a:pPr>
            <a:r>
              <a:t>• Automated medicine stock dispensation</a:t>
            </a:r>
          </a:p>
          <a:p>
            <a:pPr>
              <a:spcAft>
                <a:spcPts val="150"/>
              </a:spcAft>
              <a:defRPr sz="950">
                <a:solidFill>
                  <a:srgbClr val="1E293B"/>
                </a:solidFill>
                <a:latin typeface="Calibri"/>
              </a:defRPr>
            </a:pPr>
            <a:r>
              <a:t>• 5% Concessional GST invoicing &amp; billing receipts</a:t>
            </a:r>
          </a:p>
          <a:p>
            <a:pPr>
              <a:spcAft>
                <a:spcPts val="150"/>
              </a:spcAft>
              <a:defRPr sz="950">
                <a:solidFill>
                  <a:srgbClr val="1E293B"/>
                </a:solidFill>
                <a:latin typeface="Calibri"/>
              </a:defRPr>
            </a:pPr>
            <a:r>
              <a:t>• Secondary insurance reimbursement claim linkage</a:t>
            </a:r>
          </a:p>
        </p:txBody>
      </p:sp>
      <p:sp>
        <p:nvSpPr>
          <p:cNvPr id="16" name="Rounded Rectangle 15"/>
          <p:cNvSpPr/>
          <p:nvPr/>
        </p:nvSpPr>
        <p:spPr>
          <a:xfrm>
            <a:off x="4425696" y="4023360"/>
            <a:ext cx="3328416" cy="2194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562856" y="4133088"/>
            <a:ext cx="1097280" cy="256032"/>
          </a:xfrm>
          <a:prstGeom prst="round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latin typeface="Calibri"/>
              </a:defRPr>
            </a:pPr>
            <a:r>
              <a:t>GOVERNMENT</a:t>
            </a:r>
          </a:p>
        </p:txBody>
      </p:sp>
      <p:sp>
        <p:nvSpPr>
          <p:cNvPr id="18" name="TextBox 17"/>
          <p:cNvSpPr txBox="1"/>
          <p:nvPr/>
        </p:nvSpPr>
        <p:spPr>
          <a:xfrm>
            <a:off x="4562856" y="4425696"/>
            <a:ext cx="3054096" cy="1737360"/>
          </a:xfrm>
          <a:prstGeom prst="rect">
            <a:avLst/>
          </a:prstGeom>
          <a:noFill/>
        </p:spPr>
        <p:txBody>
          <a:bodyPr wrap="square">
            <a:spAutoFit/>
          </a:bodyPr>
          <a:lstStyle/>
          <a:p>
            <a:pPr>
              <a:spcAft>
                <a:spcPts val="400"/>
              </a:spcAft>
              <a:defRPr sz="1200" b="1">
                <a:solidFill>
                  <a:srgbClr val="0B2545"/>
                </a:solidFill>
                <a:latin typeface="Georgia"/>
              </a:defRPr>
            </a:pPr>
            <a:r>
              <a:t>Government Directorate</a:t>
            </a:r>
          </a:p>
          <a:p>
            <a:pPr>
              <a:spcAft>
                <a:spcPts val="150"/>
              </a:spcAft>
              <a:defRPr sz="950">
                <a:solidFill>
                  <a:srgbClr val="1E293B"/>
                </a:solidFill>
                <a:latin typeface="Calibri"/>
              </a:defRPr>
            </a:pPr>
            <a:r>
              <a:t>• Welfare scheme directory (PM-JAY, MJPJAY, PMSBY)</a:t>
            </a:r>
          </a:p>
          <a:p>
            <a:pPr>
              <a:spcAft>
                <a:spcPts val="150"/>
              </a:spcAft>
              <a:defRPr sz="950">
                <a:solidFill>
                  <a:srgbClr val="1E293B"/>
                </a:solidFill>
                <a:latin typeface="Calibri"/>
              </a:defRPr>
            </a:pPr>
            <a:r>
              <a:t>• Patient eligibility review &amp; cashless pre-authorization</a:t>
            </a:r>
          </a:p>
          <a:p>
            <a:pPr>
              <a:spcAft>
                <a:spcPts val="150"/>
              </a:spcAft>
              <a:defRPr sz="950">
                <a:solidFill>
                  <a:srgbClr val="1E293B"/>
                </a:solidFill>
                <a:latin typeface="Calibri"/>
              </a:defRPr>
            </a:pPr>
            <a:r>
              <a:t>• Cashless treatment package budget approvals</a:t>
            </a:r>
          </a:p>
          <a:p>
            <a:pPr>
              <a:spcAft>
                <a:spcPts val="150"/>
              </a:spcAft>
              <a:defRPr sz="950">
                <a:solidFill>
                  <a:srgbClr val="1E293B"/>
                </a:solidFill>
                <a:latin typeface="Calibri"/>
              </a:defRPr>
            </a:pPr>
            <a:r>
              <a:t>• Demographic allocation &amp; regional utilization stats</a:t>
            </a:r>
          </a:p>
        </p:txBody>
      </p:sp>
      <p:sp>
        <p:nvSpPr>
          <p:cNvPr id="19" name="Rounded Rectangle 18"/>
          <p:cNvSpPr/>
          <p:nvPr/>
        </p:nvSpPr>
        <p:spPr>
          <a:xfrm>
            <a:off x="8119872" y="4023360"/>
            <a:ext cx="3328416" cy="2194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257032" y="4133088"/>
            <a:ext cx="1097280" cy="256032"/>
          </a:xfrm>
          <a:prstGeom prst="round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latin typeface="Calibri"/>
              </a:defRPr>
            </a:pPr>
            <a:r>
              <a:t>ADMIN</a:t>
            </a:r>
          </a:p>
        </p:txBody>
      </p:sp>
      <p:sp>
        <p:nvSpPr>
          <p:cNvPr id="21" name="TextBox 20"/>
          <p:cNvSpPr txBox="1"/>
          <p:nvPr/>
        </p:nvSpPr>
        <p:spPr>
          <a:xfrm>
            <a:off x="8257032" y="4425696"/>
            <a:ext cx="3054096" cy="1737360"/>
          </a:xfrm>
          <a:prstGeom prst="rect">
            <a:avLst/>
          </a:prstGeom>
          <a:noFill/>
        </p:spPr>
        <p:txBody>
          <a:bodyPr wrap="square">
            <a:spAutoFit/>
          </a:bodyPr>
          <a:lstStyle/>
          <a:p>
            <a:pPr>
              <a:spcAft>
                <a:spcPts val="400"/>
              </a:spcAft>
              <a:defRPr sz="1200" b="1">
                <a:solidFill>
                  <a:srgbClr val="0B2545"/>
                </a:solidFill>
                <a:latin typeface="Georgia"/>
              </a:defRPr>
            </a:pPr>
            <a:r>
              <a:t>System Administration</a:t>
            </a:r>
          </a:p>
          <a:p>
            <a:pPr>
              <a:spcAft>
                <a:spcPts val="150"/>
              </a:spcAft>
              <a:defRPr sz="950">
                <a:solidFill>
                  <a:srgbClr val="1E293B"/>
                </a:solidFill>
                <a:latin typeface="Calibri"/>
              </a:defRPr>
            </a:pPr>
            <a:r>
              <a:t>• Configurable 5-tier fund distribution rules engine</a:t>
            </a:r>
          </a:p>
          <a:p>
            <a:pPr>
              <a:spcAft>
                <a:spcPts val="150"/>
              </a:spcAft>
              <a:defRPr sz="950">
                <a:solidFill>
                  <a:srgbClr val="1E293B"/>
                </a:solidFill>
                <a:latin typeface="Calibri"/>
              </a:defRPr>
            </a:pPr>
            <a:r>
              <a:t>• Healthcare provider approval &amp; credential audits</a:t>
            </a:r>
          </a:p>
          <a:p>
            <a:pPr>
              <a:spcAft>
                <a:spcPts val="150"/>
              </a:spcAft>
              <a:defRPr sz="950">
                <a:solidFill>
                  <a:srgbClr val="1E293B"/>
                </a:solidFill>
                <a:latin typeface="Calibri"/>
              </a:defRPr>
            </a:pPr>
            <a:r>
              <a:t>• Tamper-evident audit log monitoring across all roles</a:t>
            </a:r>
          </a:p>
          <a:p>
            <a:pPr>
              <a:spcAft>
                <a:spcPts val="150"/>
              </a:spcAft>
              <a:defRPr sz="950">
                <a:solidFill>
                  <a:srgbClr val="1E293B"/>
                </a:solidFill>
                <a:latin typeface="Calibri"/>
              </a:defRPr>
            </a:pPr>
            <a:r>
              <a:t>• Database integrity verification &amp; backup oversight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1050" b="1">
                <a:solidFill>
                  <a:srgbClr val="0D9488"/>
                </a:solidFill>
                <a:latin typeface="Calibri"/>
              </a:defRPr>
            </a:pPr>
            <a:r>
              <a:t>ALGORITHMIC LOGIC #1</a:t>
            </a:r>
          </a:p>
          <a:p>
            <a:pPr>
              <a:defRPr sz="2200" b="1">
                <a:solidFill>
                  <a:srgbClr val="0B2545"/>
                </a:solidFill>
                <a:latin typeface="Georgia"/>
              </a:defRPr>
            </a:pPr>
            <a:r>
              <a:t>Indian PAN Deduplication &amp; Unique Patient Identity</a:t>
            </a:r>
          </a:p>
          <a:p>
            <a:pPr>
              <a:spcBef>
                <a:spcPts val="200"/>
              </a:spcBef>
              <a:defRPr sz="1150">
                <a:solidFill>
                  <a:srgbClr val="475569"/>
                </a:solidFill>
                <a:latin typeface="Calibri"/>
              </a:defRPr>
            </a:pPr>
            <a:r>
              <a:t>Eliminating duplicate hospital registrations and enforcing longitudinal medical fidelity.</a:t>
            </a:r>
          </a:p>
        </p:txBody>
      </p:sp>
      <p:sp>
        <p:nvSpPr>
          <p:cNvPr id="4" name="Rounded Rectangle 3"/>
          <p:cNvSpPr/>
          <p:nvPr/>
        </p:nvSpPr>
        <p:spPr>
          <a:xfrm>
            <a:off x="731520" y="1645920"/>
            <a:ext cx="6217920"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5852160" cy="4297680"/>
          </a:xfrm>
          <a:prstGeom prst="rect">
            <a:avLst/>
          </a:prstGeom>
          <a:noFill/>
        </p:spPr>
        <p:txBody>
          <a:bodyPr wrap="square">
            <a:spAutoFit/>
          </a:bodyPr>
          <a:lstStyle/>
          <a:p>
            <a:pPr>
              <a:spcAft>
                <a:spcPts val="600"/>
              </a:spcAft>
              <a:defRPr sz="1100" b="1">
                <a:solidFill>
                  <a:srgbClr val="0D9488"/>
                </a:solidFill>
                <a:latin typeface="Calibri"/>
              </a:defRPr>
            </a:pPr>
            <a:r>
              <a:t>THE DEDUPLICATION LOGIC FLOW</a:t>
            </a:r>
          </a:p>
          <a:p>
            <a:pPr>
              <a:spcAft>
                <a:spcPts val="100"/>
              </a:spcAft>
              <a:defRPr sz="1100" b="1">
                <a:solidFill>
                  <a:srgbClr val="0B2545"/>
                </a:solidFill>
                <a:latin typeface="Georgia"/>
              </a:defRPr>
            </a:pPr>
            <a:r>
              <a:t>Step 1: Alphanumeric Format Validation</a:t>
            </a:r>
          </a:p>
          <a:p>
            <a:pPr>
              <a:spcAft>
                <a:spcPts val="600"/>
              </a:spcAft>
              <a:defRPr sz="950">
                <a:solidFill>
                  <a:srgbClr val="1E293B"/>
                </a:solidFill>
                <a:latin typeface="Calibri"/>
              </a:defRPr>
            </a:pPr>
            <a:r>
              <a:t>System checks PAN format against standard regex: [A-Z]{5}[0-9]{4}[A-Z]{1}. Invalid formats rejected immediately at API validation boundary.</a:t>
            </a:r>
          </a:p>
          <a:p>
            <a:pPr>
              <a:spcAft>
                <a:spcPts val="100"/>
              </a:spcAft>
              <a:defRPr sz="1100" b="1">
                <a:solidFill>
                  <a:srgbClr val="0B2545"/>
                </a:solidFill>
                <a:latin typeface="Georgia"/>
              </a:defRPr>
            </a:pPr>
            <a:r>
              <a:t>Step 2: Database Uniqueness Constraint</a:t>
            </a:r>
          </a:p>
          <a:p>
            <a:pPr>
              <a:spcAft>
                <a:spcPts val="600"/>
              </a:spcAft>
              <a:defRPr sz="950">
                <a:solidFill>
                  <a:srgbClr val="1E293B"/>
                </a:solidFill>
                <a:latin typeface="Calibri"/>
              </a:defRPr>
            </a:pPr>
            <a:r>
              <a:t>Executes indexed lookup on Patient table using `pan_number`. Enforces database-level unique constraint preventing race collisions.</a:t>
            </a:r>
          </a:p>
          <a:p>
            <a:pPr>
              <a:spcAft>
                <a:spcPts val="100"/>
              </a:spcAft>
              <a:defRPr sz="1100" b="1">
                <a:solidFill>
                  <a:srgbClr val="0B2545"/>
                </a:solidFill>
                <a:latin typeface="Georgia"/>
              </a:defRPr>
            </a:pPr>
            <a:r>
              <a:t>Step 3: Branch A — Existing PAN Detected</a:t>
            </a:r>
          </a:p>
          <a:p>
            <a:pPr>
              <a:spcAft>
                <a:spcPts val="600"/>
              </a:spcAft>
              <a:defRPr sz="950">
                <a:solidFill>
                  <a:srgbClr val="1E293B"/>
                </a:solidFill>
                <a:latin typeface="Calibri"/>
              </a:defRPr>
            </a:pPr>
            <a:r>
              <a:t>If PAN already exists, system does NOT create duplicate record. Returns existing Patient ID (e.g. PAT-2026-000001), displays informative modal, and redirects to patient login.</a:t>
            </a:r>
          </a:p>
          <a:p>
            <a:pPr>
              <a:spcAft>
                <a:spcPts val="100"/>
              </a:spcAft>
              <a:defRPr sz="1100" b="1">
                <a:solidFill>
                  <a:srgbClr val="0B2545"/>
                </a:solidFill>
                <a:latin typeface="Georgia"/>
              </a:defRPr>
            </a:pPr>
            <a:r>
              <a:t>Step 4: Branch B — New Patient Enrollment</a:t>
            </a:r>
          </a:p>
          <a:p>
            <a:pPr>
              <a:spcAft>
                <a:spcPts val="600"/>
              </a:spcAft>
              <a:defRPr sz="950">
                <a:solidFill>
                  <a:srgbClr val="1E293B"/>
                </a:solidFill>
                <a:latin typeface="Calibri"/>
              </a:defRPr>
            </a:pPr>
            <a:r>
              <a:t>Generates sequential unique Patient ID (PAT-2026-XXXXXX) and permanent Healthcare Assurance Card (HAC-91-XXXX-XXXX-2026).</a:t>
            </a:r>
          </a:p>
          <a:p>
            <a:pPr>
              <a:spcAft>
                <a:spcPts val="100"/>
              </a:spcAft>
              <a:defRPr sz="1100" b="1">
                <a:solidFill>
                  <a:srgbClr val="0B2545"/>
                </a:solidFill>
                <a:latin typeface="Georgia"/>
              </a:defRPr>
            </a:pPr>
            <a:r>
              <a:t>Step 5: Sensitive PII Masking (DISHA Compliance)</a:t>
            </a:r>
          </a:p>
          <a:p>
            <a:pPr>
              <a:spcAft>
                <a:spcPts val="600"/>
              </a:spcAft>
              <a:defRPr sz="950">
                <a:solidFill>
                  <a:srgbClr val="1E293B"/>
                </a:solidFill>
                <a:latin typeface="Calibri"/>
              </a:defRPr>
            </a:pPr>
            <a:r>
              <a:t>PAN is permanently masked across all public APIs and dashboards: XXXXX9999X. Protects citizen identity while maintaining audit compliance.</a:t>
            </a:r>
          </a:p>
        </p:txBody>
      </p:sp>
      <p:sp>
        <p:nvSpPr>
          <p:cNvPr id="6" name="Rounded Rectangle 5"/>
          <p:cNvSpPr/>
          <p:nvPr/>
        </p:nvSpPr>
        <p:spPr>
          <a:xfrm>
            <a:off x="7132320" y="1645920"/>
            <a:ext cx="4327855" cy="4663440"/>
          </a:xfrm>
          <a:prstGeom prst="roundRect">
            <a:avLst/>
          </a:prstGeom>
          <a:solidFill>
            <a:srgbClr val="F0F6FE"/>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0" y="1828800"/>
            <a:ext cx="3962095" cy="4297680"/>
          </a:xfrm>
          <a:prstGeom prst="rect">
            <a:avLst/>
          </a:prstGeom>
          <a:noFill/>
        </p:spPr>
        <p:txBody>
          <a:bodyPr wrap="square">
            <a:spAutoFit/>
          </a:bodyPr>
          <a:lstStyle/>
          <a:p>
            <a:pPr>
              <a:spcAft>
                <a:spcPts val="600"/>
              </a:spcAft>
              <a:defRPr sz="1100" b="1">
                <a:solidFill>
                  <a:srgbClr val="134074"/>
                </a:solidFill>
                <a:latin typeface="Calibri"/>
              </a:defRPr>
            </a:pPr>
            <a:r>
              <a:t>PYTHON BACKEND IMPLEMENTATION</a:t>
            </a:r>
          </a:p>
          <a:p>
            <a:pPr>
              <a:spcAft>
                <a:spcPts val="1000"/>
              </a:spcAft>
              <a:defRPr sz="900">
                <a:solidFill>
                  <a:srgbClr val="0B2545"/>
                </a:solidFill>
                <a:latin typeface="Courier New"/>
              </a:defRPr>
            </a:pPr>
            <a:r>
              <a:t># Deduplication check in views.py:</a:t>
            </a:r>
            <a:br/>
            <a:r>
              <a:t>pan = data.get('pan_number', '').upper()</a:t>
            </a:r>
            <a:br/>
            <a:r>
              <a:t>existing = Patient.objects.filter(</a:t>
            </a:r>
            <a:br/>
            <a:r>
              <a:t>    pan_number__iexact=pan</a:t>
            </a:r>
            <a:br/>
            <a:r>
              <a:t>).first()</a:t>
            </a:r>
            <a:br/>
            <a:br/>
            <a:r>
              <a:t>if existing:</a:t>
            </a:r>
            <a:br/>
            <a:r>
              <a:t>    return Response({</a:t>
            </a:r>
            <a:br/>
            <a:r>
              <a:t>        'is_existing': True,</a:t>
            </a:r>
            <a:br/>
            <a:r>
              <a:t>        'message': 'Patient already registered.',</a:t>
            </a:r>
            <a:br/>
            <a:r>
              <a:t>        'patient': PatientSerializer(existing).data</a:t>
            </a:r>
            <a:br/>
            <a:r>
              <a:t>    }, status=200)</a:t>
            </a:r>
            <a:br/>
            <a:br/>
            <a:r>
              <a:t># Sequential ID Generator:</a:t>
            </a:r>
            <a:br/>
            <a:r>
              <a:t>count = Patient.objects.count() + 1</a:t>
            </a:r>
            <a:br/>
            <a:r>
              <a:t>patient_id = f'PAT-2026-{count:06d}'</a:t>
            </a:r>
            <a:br/>
            <a:r>
              <a:t>hac = f'HAC-91-{rand1}-{rand2}-2026'</a:t>
            </a:r>
            <a:br/>
            <a:br/>
            <a:r>
              <a:t>@property</a:t>
            </a:r>
            <a:br/>
            <a:r>
              <a:t>def masked_pan(self):</a:t>
            </a:r>
            <a:br/>
            <a:r>
              <a:t>    return f'XXXXX{self.pan_number[5:9]}X'</a:t>
            </a:r>
          </a:p>
        </p:txBody>
      </p:sp>
      <p:sp>
        <p:nvSpPr>
          <p:cNvPr id="8" name="Rounded Rectangle 7"/>
          <p:cNvSpPr/>
          <p:nvPr/>
        </p:nvSpPr>
        <p:spPr>
          <a:xfrm>
            <a:off x="7315200" y="4937760"/>
            <a:ext cx="3962095" cy="1097280"/>
          </a:xfrm>
          <a:prstGeom prst="roundRect">
            <a:avLst/>
          </a:prstGeom>
          <a:solidFill>
            <a:srgbClr val="FFFFFF"/>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200"/>
              </a:spcAft>
              <a:defRPr sz="950" b="1">
                <a:solidFill>
                  <a:srgbClr val="16A34A"/>
                </a:solidFill>
                <a:latin typeface="Calibri"/>
              </a:defRPr>
            </a:pPr>
            <a:r>
              <a:t>VERIFIED IN INTEGRATION TEST 01</a:t>
            </a:r>
          </a:p>
          <a:p>
            <a:pPr>
              <a:defRPr sz="900">
                <a:solidFill>
                  <a:srgbClr val="1E293B"/>
                </a:solidFill>
                <a:latin typeface="Calibri"/>
              </a:defRPr>
            </a:pPr>
            <a:r>
              <a:t>Duplicate submission with identical PAN successfully caught in 28ms; existing ID returned with zero data corruption.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1050" b="1">
                <a:solidFill>
                  <a:srgbClr val="0D9488"/>
                </a:solidFill>
                <a:latin typeface="Calibri"/>
              </a:defRPr>
            </a:pPr>
            <a:r>
              <a:t>ALGORITHMIC LOGIC #2</a:t>
            </a:r>
          </a:p>
          <a:p>
            <a:pPr>
              <a:defRPr sz="2200" b="1">
                <a:solidFill>
                  <a:srgbClr val="0B2545"/>
                </a:solidFill>
                <a:latin typeface="Georgia"/>
              </a:defRPr>
            </a:pPr>
            <a:r>
              <a:t>Atomic Concurrency Token Scheduling Engine</a:t>
            </a:r>
          </a:p>
          <a:p>
            <a:pPr>
              <a:spcBef>
                <a:spcPts val="200"/>
              </a:spcBef>
              <a:defRPr sz="1150">
                <a:solidFill>
                  <a:srgbClr val="475569"/>
                </a:solidFill>
                <a:latin typeface="Calibri"/>
              </a:defRPr>
            </a:pPr>
            <a:r>
              <a:t>Eliminating outpatient appointment collisions using database-level pessimistic locking.</a:t>
            </a:r>
          </a:p>
        </p:txBody>
      </p:sp>
      <p:sp>
        <p:nvSpPr>
          <p:cNvPr id="4" name="Rounded Rectangle 3"/>
          <p:cNvSpPr/>
          <p:nvPr/>
        </p:nvSpPr>
        <p:spPr>
          <a:xfrm>
            <a:off x="731520" y="1645920"/>
            <a:ext cx="5120640"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4754880" cy="4297680"/>
          </a:xfrm>
          <a:prstGeom prst="rect">
            <a:avLst/>
          </a:prstGeom>
          <a:noFill/>
        </p:spPr>
        <p:txBody>
          <a:bodyPr wrap="square">
            <a:spAutoFit/>
          </a:bodyPr>
          <a:lstStyle/>
          <a:p>
            <a:pPr>
              <a:spcAft>
                <a:spcPts val="400"/>
              </a:spcAft>
              <a:defRPr sz="1100" b="1">
                <a:solidFill>
                  <a:srgbClr val="D97706"/>
                </a:solidFill>
                <a:latin typeface="Calibri"/>
              </a:defRPr>
            </a:pPr>
            <a:r>
              <a:t>THE CONCURRENCY CHALLENGE</a:t>
            </a:r>
          </a:p>
          <a:p>
            <a:pPr>
              <a:spcAft>
                <a:spcPts val="600"/>
              </a:spcAft>
              <a:defRPr sz="1300" b="1">
                <a:solidFill>
                  <a:srgbClr val="0B2545"/>
                </a:solidFill>
                <a:latin typeface="Georgia"/>
              </a:defRPr>
            </a:pPr>
            <a:r>
              <a:t>Race Conditions in Peak OPD Hours</a:t>
            </a:r>
          </a:p>
          <a:p>
            <a:pPr>
              <a:spcAft>
                <a:spcPts val="1000"/>
              </a:spcAft>
              <a:defRPr sz="1000">
                <a:solidFill>
                  <a:srgbClr val="1E293B"/>
                </a:solidFill>
                <a:latin typeface="Calibri"/>
              </a:defRPr>
            </a:pPr>
            <a:r>
              <a:t>• In traditional web booking, two requests (User A and User B) read `MAX(token_number) = 4` simultaneously.</a:t>
            </a:r>
            <a:br/>
            <a:br/>
            <a:r>
              <a:t>• Both increment to 5 and save, resulting in two patients holding Token #5.</a:t>
            </a:r>
            <a:br/>
            <a:br/>
            <a:r>
              <a:t>• In crowded clinics, duplicate tokens disrupt queue order and delay care.</a:t>
            </a:r>
          </a:p>
          <a:p>
            <a:pPr>
              <a:spcAft>
                <a:spcPts val="400"/>
              </a:spcAft>
              <a:defRPr sz="1100" b="1">
                <a:solidFill>
                  <a:srgbClr val="0D9488"/>
                </a:solidFill>
                <a:latin typeface="Calibri"/>
              </a:defRPr>
            </a:pPr>
            <a:r>
              <a:t>MATHEMATICAL COLLISION THEOREM</a:t>
            </a:r>
          </a:p>
          <a:p>
            <a:pPr>
              <a:defRPr sz="950">
                <a:solidFill>
                  <a:srgbClr val="0B2545"/>
                </a:solidFill>
                <a:latin typeface="Calibri"/>
              </a:defRPr>
            </a:pPr>
            <a:r>
              <a:t>Let T(D, S) = {t1, t2, ..., tn} be the token sequence for Doctor D on Date S. By enforcing an exclusive row write-lock via `select_for_update()`, transactions are serialized:</a:t>
            </a:r>
            <a:br/>
            <a:br/>
            <a:r>
              <a:t>    ∀ i ≠ j,  ti ≠ tj  ⟹  P(Collision) ≡ 0</a:t>
            </a:r>
            <a:br/>
            <a:br/>
            <a:r>
              <a:t>Allocation complexity is strictly O(1).</a:t>
            </a:r>
          </a:p>
        </p:txBody>
      </p:sp>
      <p:sp>
        <p:nvSpPr>
          <p:cNvPr id="6" name="Rounded Rectangle 5"/>
          <p:cNvSpPr/>
          <p:nvPr/>
        </p:nvSpPr>
        <p:spPr>
          <a:xfrm>
            <a:off x="6035040" y="1645920"/>
            <a:ext cx="5425135" cy="4663440"/>
          </a:xfrm>
          <a:prstGeom prst="roundRect">
            <a:avLst/>
          </a:prstGeom>
          <a:solidFill>
            <a:srgbClr val="F0F6FE"/>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17920" y="1828800"/>
            <a:ext cx="5059375" cy="4297680"/>
          </a:xfrm>
          <a:prstGeom prst="rect">
            <a:avLst/>
          </a:prstGeom>
          <a:noFill/>
        </p:spPr>
        <p:txBody>
          <a:bodyPr wrap="square">
            <a:spAutoFit/>
          </a:bodyPr>
          <a:lstStyle/>
          <a:p>
            <a:pPr>
              <a:spcAft>
                <a:spcPts val="600"/>
              </a:spcAft>
              <a:defRPr sz="1100" b="1">
                <a:solidFill>
                  <a:srgbClr val="134074"/>
                </a:solidFill>
                <a:latin typeface="Calibri"/>
              </a:defRPr>
            </a:pPr>
            <a:r>
              <a:t>ATOMIC TRANSACTION IMPLEMENTATION</a:t>
            </a:r>
          </a:p>
          <a:p>
            <a:pPr>
              <a:spcAft>
                <a:spcPts val="800"/>
              </a:spcAft>
              <a:defRPr sz="850">
                <a:solidFill>
                  <a:srgbClr val="0B2545"/>
                </a:solidFill>
                <a:latin typeface="Courier New"/>
              </a:defRPr>
            </a:pPr>
            <a:r>
              <a:t>@db_transaction.atomic</a:t>
            </a:r>
            <a:br/>
            <a:r>
              <a:t>def book_appointment(request):</a:t>
            </a:r>
            <a:br/>
            <a:r>
              <a:t>    key = request.data.get('idempotency_key')</a:t>
            </a:r>
            <a:br/>
            <a:r>
              <a:t>    # 1. Idempotency Check (Prevents double submit)</a:t>
            </a:r>
            <a:br/>
            <a:r>
              <a:t>    existing = AppointmentToken.objects.filter(</a:t>
            </a:r>
            <a:br/>
            <a:r>
              <a:t>        idempotency_key=key</a:t>
            </a:r>
            <a:br/>
            <a:r>
              <a:t>    ).first()</a:t>
            </a:r>
            <a:br/>
            <a:r>
              <a:t>    if existing:</a:t>
            </a:r>
            <a:br/>
            <a:r>
              <a:t>        return Response(serialize(existing))</a:t>
            </a:r>
            <a:br/>
            <a:br/>
            <a:r>
              <a:t>    # 2. Pessimistic Row Lock on Doctor Session</a:t>
            </a:r>
            <a:br/>
            <a:r>
              <a:t>    max_tok = AppointmentToken.objects.select_for_update().filter(</a:t>
            </a:r>
            <a:br/>
            <a:r>
              <a:t>        doctor=doc, session_date=date</a:t>
            </a:r>
            <a:br/>
            <a:r>
              <a:t>    ).aggregate(Max('token_number'))['token_number__max'] or 0</a:t>
            </a:r>
            <a:br/>
            <a:br/>
            <a:r>
              <a:t>    # 3. Guaranteed Atomic Monotonic Increment</a:t>
            </a:r>
            <a:br/>
            <a:r>
              <a:t>    token = AppointmentToken.objects.create(</a:t>
            </a:r>
            <a:br/>
            <a:r>
              <a:t>        doctor=doc, session_date=date,</a:t>
            </a:r>
            <a:br/>
            <a:r>
              <a:t>        token_number=max_tok + 1,</a:t>
            </a:r>
            <a:br/>
            <a:r>
              <a:t>        status='Waiting', idempotency_key=key</a:t>
            </a:r>
            <a:br/>
            <a:r>
              <a:t>    )</a:t>
            </a:r>
            <a:br/>
            <a:r>
              <a:t>    return token</a:t>
            </a:r>
          </a:p>
        </p:txBody>
      </p:sp>
      <p:sp>
        <p:nvSpPr>
          <p:cNvPr id="8" name="Rounded Rectangle 7"/>
          <p:cNvSpPr/>
          <p:nvPr/>
        </p:nvSpPr>
        <p:spPr>
          <a:xfrm>
            <a:off x="6217920" y="4937760"/>
            <a:ext cx="5059375" cy="1097280"/>
          </a:xfrm>
          <a:prstGeom prst="roundRect">
            <a:avLst/>
          </a:prstGeom>
          <a:solidFill>
            <a:srgbClr val="FFFFFF"/>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200"/>
              </a:spcAft>
              <a:defRPr sz="950" b="1">
                <a:solidFill>
                  <a:srgbClr val="16A34A"/>
                </a:solidFill>
                <a:latin typeface="Calibri"/>
              </a:defRPr>
            </a:pPr>
            <a:r>
              <a:t>VERIFIED IN INTEGRATION TEST 07 &amp; 08</a:t>
            </a:r>
          </a:p>
          <a:p>
            <a:pPr>
              <a:defRPr sz="900">
                <a:solidFill>
                  <a:srgbClr val="1E293B"/>
                </a:solidFill>
                <a:latin typeface="Calibri"/>
              </a:defRPr>
            </a:pPr>
            <a:r>
              <a:t>Sequential atomic increment from Token #1 to #2 verified; identical idempotency key returns existing appointment with zero duplicate rows.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1050" b="1">
                <a:solidFill>
                  <a:srgbClr val="0D9488"/>
                </a:solidFill>
                <a:latin typeface="Calibri"/>
              </a:defRPr>
            </a:pPr>
            <a:r>
              <a:t>FINANCIAL INFORMATICS</a:t>
            </a:r>
          </a:p>
          <a:p>
            <a:pPr>
              <a:defRPr sz="2200" b="1">
                <a:solidFill>
                  <a:srgbClr val="0B2545"/>
                </a:solidFill>
                <a:latin typeface="Georgia"/>
              </a:defRPr>
            </a:pPr>
            <a:r>
              <a:t>Dynamic 5-Tier Fund Distribution Calculation Engine</a:t>
            </a:r>
          </a:p>
          <a:p>
            <a:pPr>
              <a:spcBef>
                <a:spcPts val="200"/>
              </a:spcBef>
              <a:defRPr sz="1150">
                <a:solidFill>
                  <a:srgbClr val="475569"/>
                </a:solidFill>
                <a:latin typeface="Calibri"/>
              </a:defRPr>
            </a:pPr>
            <a:r>
              <a:t>Automating transparent healthcare package allocations across multi-provider networks.</a:t>
            </a:r>
          </a:p>
        </p:txBody>
      </p:sp>
      <p:sp>
        <p:nvSpPr>
          <p:cNvPr id="4" name="Rounded Rectangle 3"/>
          <p:cNvSpPr/>
          <p:nvPr/>
        </p:nvSpPr>
        <p:spPr>
          <a:xfrm>
            <a:off x="731520" y="1645920"/>
            <a:ext cx="5120640"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4754880" cy="4297680"/>
          </a:xfrm>
          <a:prstGeom prst="rect">
            <a:avLst/>
          </a:prstGeom>
          <a:noFill/>
        </p:spPr>
        <p:txBody>
          <a:bodyPr wrap="square">
            <a:spAutoFit/>
          </a:bodyPr>
          <a:lstStyle/>
          <a:p>
            <a:pPr>
              <a:spcAft>
                <a:spcPts val="400"/>
              </a:spcAft>
              <a:defRPr sz="1100" b="1">
                <a:solidFill>
                  <a:srgbClr val="0D9488"/>
                </a:solidFill>
                <a:latin typeface="Calibri"/>
              </a:defRPr>
            </a:pPr>
            <a:r>
              <a:t>CONFIGURABLE ALLOCATION VECTOR</a:t>
            </a:r>
          </a:p>
          <a:p>
            <a:pPr>
              <a:spcAft>
                <a:spcPts val="600"/>
              </a:spcAft>
              <a:defRPr sz="1300" b="1">
                <a:solidFill>
                  <a:srgbClr val="0B2545"/>
                </a:solidFill>
                <a:latin typeface="Georgia"/>
              </a:defRPr>
            </a:pPr>
            <a:r>
              <a:t>Mathematical Policy Model</a:t>
            </a:r>
          </a:p>
          <a:p>
            <a:pPr>
              <a:spcAft>
                <a:spcPts val="800"/>
              </a:spcAft>
              <a:defRPr sz="1000">
                <a:solidFill>
                  <a:srgbClr val="1E293B"/>
                </a:solidFill>
                <a:latin typeface="Calibri"/>
              </a:defRPr>
            </a:pPr>
            <a:r>
              <a:t>For any approved government package Φ (e.g. ₹5,00,000 MJPJAY / PM-JAY), the engine calculates payouts via allocation vector ω:</a:t>
            </a:r>
            <a:br/>
            <a:br/>
            <a:r>
              <a:t>  ω = [ ω_doc, ω_path, ω_pharm, ω_gov, ω_benefit ]</a:t>
            </a:r>
            <a:br/>
            <a:r>
              <a:t>    = [ 0.10,   0.10,   0.05,    0.05,  0.70 ]</a:t>
            </a:r>
            <a:br/>
            <a:br/>
            <a:r>
              <a:t>where ∑ ω_k = 1.00 (100% total balance conservation).</a:t>
            </a:r>
          </a:p>
          <a:p>
            <a:pPr>
              <a:spcAft>
                <a:spcPts val="400"/>
              </a:spcAft>
              <a:defRPr sz="1100" b="1">
                <a:solidFill>
                  <a:srgbClr val="134074"/>
                </a:solidFill>
                <a:latin typeface="Calibri"/>
              </a:defRPr>
            </a:pPr>
            <a:r>
              <a:t>KEY FINANCIAL PRINCIPLES</a:t>
            </a:r>
          </a:p>
          <a:p>
            <a:pPr>
              <a:defRPr sz="950">
                <a:solidFill>
                  <a:srgbClr val="1E293B"/>
                </a:solidFill>
                <a:latin typeface="Calibri"/>
              </a:defRPr>
            </a:pPr>
            <a:r>
              <a:t>• Dynamic Database Tuning: Policy percentages stored in `AllocationConfiguration`; admin can modify rules without code redeployment.</a:t>
            </a:r>
            <a:br/>
            <a:br/>
            <a:r>
              <a:t>• Decimal Precision: All calculations execute in Python `Decimal` to avoid binary floating-point rounding discrepancies.</a:t>
            </a:r>
            <a:br/>
            <a:br/>
            <a:r>
              <a:t>• Secondary Deficit Claim: If treatment costs exceed government limits, remaining balance triggers an automated private insurance claim.</a:t>
            </a:r>
          </a:p>
        </p:txBody>
      </p:sp>
      <p:sp>
        <p:nvSpPr>
          <p:cNvPr id="6" name="Rounded Rectangle 5"/>
          <p:cNvSpPr/>
          <p:nvPr/>
        </p:nvSpPr>
        <p:spPr>
          <a:xfrm>
            <a:off x="6035040" y="1645920"/>
            <a:ext cx="5425135" cy="4663440"/>
          </a:xfrm>
          <a:prstGeom prst="roundRect">
            <a:avLst/>
          </a:prstGeom>
          <a:solidFill>
            <a:srgbClr val="F0F6FE"/>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17920" y="1828800"/>
            <a:ext cx="5059375" cy="4297680"/>
          </a:xfrm>
          <a:prstGeom prst="rect">
            <a:avLst/>
          </a:prstGeom>
          <a:noFill/>
        </p:spPr>
        <p:txBody>
          <a:bodyPr wrap="square">
            <a:spAutoFit/>
          </a:bodyPr>
          <a:lstStyle/>
          <a:p>
            <a:pPr>
              <a:spcAft>
                <a:spcPts val="800"/>
              </a:spcAft>
              <a:defRPr sz="1100" b="1">
                <a:solidFill>
                  <a:srgbClr val="0B2545"/>
                </a:solidFill>
                <a:latin typeface="Calibri"/>
              </a:defRPr>
            </a:pPr>
            <a:r>
              <a:t>STANDARDIZED ₹5,00,000 MJPJAY ALLOCATION BREAKDOWN</a:t>
            </a:r>
          </a:p>
        </p:txBody>
      </p:sp>
      <p:sp>
        <p:nvSpPr>
          <p:cNvPr id="8" name="Rounded Rectangle 7"/>
          <p:cNvSpPr/>
          <p:nvPr/>
        </p:nvSpPr>
        <p:spPr>
          <a:xfrm>
            <a:off x="6217920" y="2286000"/>
            <a:ext cx="5059375" cy="566928"/>
          </a:xfrm>
          <a:prstGeom prst="roundRect">
            <a:avLst/>
          </a:prstGeom>
          <a:solidFill>
            <a:srgbClr val="FFFFFF"/>
          </a:solidFill>
          <a:ln w="15240">
            <a:solidFill>
              <a:srgbClr val="13407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134074"/>
                </a:solidFill>
                <a:latin typeface="Calibri"/>
              </a:defRPr>
            </a:pPr>
            <a:r>
              <a:t>Doctor Consultation Payout (10.00%): ₹50,000</a:t>
            </a:r>
          </a:p>
          <a:p>
            <a:pPr>
              <a:defRPr sz="850">
                <a:solidFill>
                  <a:srgbClr val="475569"/>
                </a:solidFill>
                <a:latin typeface="Calibri"/>
              </a:defRPr>
            </a:pPr>
            <a:r>
              <a:t>Calculated with Decimal precision • Zero Out-of-Pocket</a:t>
            </a:r>
          </a:p>
        </p:txBody>
      </p:sp>
      <p:sp>
        <p:nvSpPr>
          <p:cNvPr id="9" name="Rounded Rectangle 8"/>
          <p:cNvSpPr/>
          <p:nvPr/>
        </p:nvSpPr>
        <p:spPr>
          <a:xfrm>
            <a:off x="6217920" y="2944368"/>
            <a:ext cx="5059375" cy="566928"/>
          </a:xfrm>
          <a:prstGeom prst="roundRect">
            <a:avLst/>
          </a:prstGeom>
          <a:solidFill>
            <a:srgbClr val="FFFFFF"/>
          </a:solidFill>
          <a:ln w="1524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D9488"/>
                </a:solidFill>
                <a:latin typeface="Calibri"/>
              </a:defRPr>
            </a:pPr>
            <a:r>
              <a:t>Pathology Diagnostics Payout (10.00%): ₹50,000</a:t>
            </a:r>
          </a:p>
          <a:p>
            <a:pPr>
              <a:defRPr sz="850">
                <a:solidFill>
                  <a:srgbClr val="475569"/>
                </a:solidFill>
                <a:latin typeface="Calibri"/>
              </a:defRPr>
            </a:pPr>
            <a:r>
              <a:t>Calculated with Decimal precision • Zero Out-of-Pocket</a:t>
            </a:r>
          </a:p>
        </p:txBody>
      </p:sp>
      <p:sp>
        <p:nvSpPr>
          <p:cNvPr id="10" name="Rounded Rectangle 9"/>
          <p:cNvSpPr/>
          <p:nvPr/>
        </p:nvSpPr>
        <p:spPr>
          <a:xfrm>
            <a:off x="6217920" y="3602736"/>
            <a:ext cx="5059375" cy="566928"/>
          </a:xfrm>
          <a:prstGeom prst="roundRect">
            <a:avLst/>
          </a:prstGeom>
          <a:solidFill>
            <a:srgbClr val="FFFFFF"/>
          </a:solidFill>
          <a:ln w="1524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D97706"/>
                </a:solidFill>
                <a:latin typeface="Calibri"/>
              </a:defRPr>
            </a:pPr>
            <a:r>
              <a:t>Pharmacy &amp; Surgical Supplies (5.00%): ₹25,000</a:t>
            </a:r>
          </a:p>
          <a:p>
            <a:pPr>
              <a:defRPr sz="850">
                <a:solidFill>
                  <a:srgbClr val="475569"/>
                </a:solidFill>
                <a:latin typeface="Calibri"/>
              </a:defRPr>
            </a:pPr>
            <a:r>
              <a:t>Calculated with Decimal precision • Zero Out-of-Pocket</a:t>
            </a:r>
          </a:p>
        </p:txBody>
      </p:sp>
      <p:sp>
        <p:nvSpPr>
          <p:cNvPr id="11" name="Rounded Rectangle 10"/>
          <p:cNvSpPr/>
          <p:nvPr/>
        </p:nvSpPr>
        <p:spPr>
          <a:xfrm>
            <a:off x="6217920" y="4261104"/>
            <a:ext cx="5059375" cy="566928"/>
          </a:xfrm>
          <a:prstGeom prst="roundRect">
            <a:avLst/>
          </a:prstGeom>
          <a:solidFill>
            <a:srgbClr val="FFFFFF"/>
          </a:solidFill>
          <a:ln w="1524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B45309"/>
                </a:solidFill>
                <a:latin typeface="Calibri"/>
              </a:defRPr>
            </a:pPr>
            <a:r>
              <a:t>Government Administration Fee (5.00%): ₹25,000</a:t>
            </a:r>
          </a:p>
          <a:p>
            <a:pPr>
              <a:defRPr sz="850">
                <a:solidFill>
                  <a:srgbClr val="475569"/>
                </a:solidFill>
                <a:latin typeface="Calibri"/>
              </a:defRPr>
            </a:pPr>
            <a:r>
              <a:t>Calculated with Decimal precision • Zero Out-of-Pocket</a:t>
            </a:r>
          </a:p>
        </p:txBody>
      </p:sp>
      <p:sp>
        <p:nvSpPr>
          <p:cNvPr id="12" name="Rounded Rectangle 11"/>
          <p:cNvSpPr/>
          <p:nvPr/>
        </p:nvSpPr>
        <p:spPr>
          <a:xfrm>
            <a:off x="6217920" y="4919472"/>
            <a:ext cx="5059375" cy="566928"/>
          </a:xfrm>
          <a:prstGeom prst="roundRect">
            <a:avLst/>
          </a:prstGeom>
          <a:solidFill>
            <a:srgbClr val="FFFFFF"/>
          </a:solidFill>
          <a:ln w="1524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16A34A"/>
                </a:solidFill>
                <a:latin typeface="Calibri"/>
              </a:defRPr>
            </a:pPr>
            <a:r>
              <a:t>Patient Direct Benefit Wallet (70.00%): ₹3,50,000</a:t>
            </a:r>
          </a:p>
          <a:p>
            <a:pPr>
              <a:defRPr sz="850">
                <a:solidFill>
                  <a:srgbClr val="475569"/>
                </a:solidFill>
                <a:latin typeface="Calibri"/>
              </a:defRPr>
            </a:pPr>
            <a:r>
              <a:t>Calculated with Decimal precision • Zero Out-of-Pocket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1050" b="1">
                <a:solidFill>
                  <a:srgbClr val="0D9488"/>
                </a:solidFill>
                <a:latin typeface="Calibri"/>
              </a:defRPr>
            </a:pPr>
            <a:r>
              <a:t>LEDGER &amp; CLINICAL INTELLIGENCE</a:t>
            </a:r>
          </a:p>
          <a:p>
            <a:pPr>
              <a:defRPr sz="2200" b="1">
                <a:solidFill>
                  <a:srgbClr val="0B2545"/>
                </a:solidFill>
                <a:latin typeface="Georgia"/>
              </a:defRPr>
            </a:pPr>
            <a:r>
              <a:t>90% Healthcare Reserve Ledger &amp; AI Clinical Triage</a:t>
            </a:r>
          </a:p>
          <a:p>
            <a:pPr>
              <a:spcBef>
                <a:spcPts val="200"/>
              </a:spcBef>
              <a:defRPr sz="1150">
                <a:solidFill>
                  <a:srgbClr val="475569"/>
                </a:solidFill>
                <a:latin typeface="Calibri"/>
              </a:defRPr>
            </a:pPr>
            <a:r>
              <a:t>Append-only double-entry financial buffer coupled with safety-bounded emergency triage.</a:t>
            </a:r>
          </a:p>
        </p:txBody>
      </p:sp>
      <p:sp>
        <p:nvSpPr>
          <p:cNvPr id="4" name="Rounded Rectangle 3"/>
          <p:cNvSpPr/>
          <p:nvPr/>
        </p:nvSpPr>
        <p:spPr>
          <a:xfrm>
            <a:off x="731520" y="1645920"/>
            <a:ext cx="5212080"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4846320" cy="4297680"/>
          </a:xfrm>
          <a:prstGeom prst="rect">
            <a:avLst/>
          </a:prstGeom>
          <a:noFill/>
        </p:spPr>
        <p:txBody>
          <a:bodyPr wrap="square">
            <a:spAutoFit/>
          </a:bodyPr>
          <a:lstStyle/>
          <a:p>
            <a:pPr>
              <a:spcAft>
                <a:spcPts val="400"/>
              </a:spcAft>
              <a:defRPr sz="1100" b="1">
                <a:solidFill>
                  <a:srgbClr val="D97706"/>
                </a:solidFill>
                <a:latin typeface="Calibri"/>
              </a:defRPr>
            </a:pPr>
            <a:r>
              <a:t>THE 90% HEALTHCARE RESERVE LEDGER</a:t>
            </a:r>
          </a:p>
          <a:p>
            <a:pPr>
              <a:spcAft>
                <a:spcPts val="600"/>
              </a:spcAft>
              <a:defRPr sz="1300" b="1">
                <a:solidFill>
                  <a:srgbClr val="0B2545"/>
                </a:solidFill>
                <a:latin typeface="Georgia"/>
              </a:defRPr>
            </a:pPr>
            <a:r>
              <a:t>Double-Entry Savings Buffer</a:t>
            </a:r>
          </a:p>
          <a:p>
            <a:pPr>
              <a:spcAft>
                <a:spcPts val="800"/>
              </a:spcAft>
              <a:defRPr sz="1000">
                <a:solidFill>
                  <a:srgbClr val="1E293B"/>
                </a:solidFill>
                <a:latin typeface="Calibri"/>
              </a:defRPr>
            </a:pPr>
            <a:r>
              <a:t>• For every settled healthcare invoice (Doctor, Lab, Pharmacy), 90% is credited to the patient's Healthcare Reserve Account.</a:t>
            </a:r>
            <a:br/>
            <a:br/>
            <a:r>
              <a:t>• Mathematical Credit: Ω = ⌊ Ψ × 0.90 × 100 + 0.5 ⌋ ÷ 100</a:t>
            </a:r>
            <a:br/>
            <a:br/>
            <a:r>
              <a:t>• Absolute Ledger Immutability: Every transaction creates an immutable `ReserveLedgerEntry`. Direct updates are prohibited by overriding `save()` in Django. Corrections must be append-only `REVERSAL` rows.</a:t>
            </a:r>
          </a:p>
        </p:txBody>
      </p:sp>
      <p:pic>
        <p:nvPicPr>
          <p:cNvPr id="6" name="Picture 5" descr="fig3_reserve_ledger_model.jpg"/>
          <p:cNvPicPr>
            <a:picLocks noChangeAspect="1"/>
          </p:cNvPicPr>
          <p:nvPr/>
        </p:nvPicPr>
        <p:blipFill>
          <a:blip r:embed="rId2"/>
          <a:stretch>
            <a:fillRect/>
          </a:stretch>
        </p:blipFill>
        <p:spPr>
          <a:xfrm>
            <a:off x="914400" y="4389120"/>
            <a:ext cx="4846320" cy="1737360"/>
          </a:xfrm>
          <a:prstGeom prst="rect">
            <a:avLst/>
          </a:prstGeom>
        </p:spPr>
      </p:pic>
      <p:sp>
        <p:nvSpPr>
          <p:cNvPr id="7" name="Rounded Rectangle 6"/>
          <p:cNvSpPr/>
          <p:nvPr/>
        </p:nvSpPr>
        <p:spPr>
          <a:xfrm>
            <a:off x="6217920" y="1645920"/>
            <a:ext cx="5242255"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828800"/>
            <a:ext cx="4876495" cy="4297680"/>
          </a:xfrm>
          <a:prstGeom prst="rect">
            <a:avLst/>
          </a:prstGeom>
          <a:noFill/>
        </p:spPr>
        <p:txBody>
          <a:bodyPr wrap="square">
            <a:spAutoFit/>
          </a:bodyPr>
          <a:lstStyle/>
          <a:p>
            <a:pPr>
              <a:spcAft>
                <a:spcPts val="400"/>
              </a:spcAft>
              <a:defRPr sz="1100" b="1">
                <a:solidFill>
                  <a:srgbClr val="0D9488"/>
                </a:solidFill>
                <a:latin typeface="Calibri"/>
              </a:defRPr>
            </a:pPr>
            <a:r>
              <a:t>SAFETY-BOUNDED AI CLINICAL TRIAGE</a:t>
            </a:r>
          </a:p>
          <a:p>
            <a:pPr>
              <a:spcAft>
                <a:spcPts val="600"/>
              </a:spcAft>
              <a:defRPr sz="1300" b="1">
                <a:solidFill>
                  <a:srgbClr val="0B2545"/>
                </a:solidFill>
                <a:latin typeface="Georgia"/>
              </a:defRPr>
            </a:pPr>
            <a:r>
              <a:t>Deterministic 108 Emergency Filter</a:t>
            </a:r>
          </a:p>
          <a:p>
            <a:pPr>
              <a:spcAft>
                <a:spcPts val="800"/>
              </a:spcAft>
              <a:defRPr sz="1000">
                <a:solidFill>
                  <a:srgbClr val="1E293B"/>
                </a:solidFill>
                <a:latin typeface="Calibri"/>
              </a:defRPr>
            </a:pPr>
            <a:r>
              <a:t>• Deterministic Red-Flag Interceptor: If symptoms contain 'chest pain', 'heart attack', 'stroke', or 'severe bleeding', the LLM is bypassed immediately.</a:t>
            </a:r>
            <a:br/>
            <a:br/>
            <a:r>
              <a:t>• Instant Emergency Banner: 'Call 108 (National Emergency Ambulance) immediately or go to nearest emergency room.'</a:t>
            </a:r>
            <a:br/>
            <a:br/>
            <a:r>
              <a:t>• Non-Emergency Flow: Google Gemini 1.5 matches symptoms to clinical specialties (e.g. 'throbbing headache' -&gt; Neurology) with mandatory disclaimer: 'AI suggestion only; not a diagnosis.'</a:t>
            </a:r>
          </a:p>
        </p:txBody>
      </p:sp>
      <p:pic>
        <p:nvPicPr>
          <p:cNvPr id="9" name="Picture 8" descr="fig2_ai_clinical_triage.jpg"/>
          <p:cNvPicPr>
            <a:picLocks noChangeAspect="1"/>
          </p:cNvPicPr>
          <p:nvPr/>
        </p:nvPicPr>
        <p:blipFill>
          <a:blip r:embed="rId3"/>
          <a:stretch>
            <a:fillRect/>
          </a:stretch>
        </p:blipFill>
        <p:spPr>
          <a:xfrm>
            <a:off x="6400800" y="4389120"/>
            <a:ext cx="4846320" cy="173736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1050" b="1">
                <a:solidFill>
                  <a:srgbClr val="0D9488"/>
                </a:solidFill>
                <a:latin typeface="Calibri"/>
              </a:defRPr>
            </a:pPr>
            <a:r>
              <a:t>DATA ARCHITECTURE</a:t>
            </a:r>
          </a:p>
          <a:p>
            <a:pPr>
              <a:defRPr sz="2200" b="1">
                <a:solidFill>
                  <a:srgbClr val="0B2545"/>
                </a:solidFill>
                <a:latin typeface="Georgia"/>
              </a:defRPr>
            </a:pPr>
            <a:r>
              <a:t>Relational Database Schema &amp; Entity Relationships</a:t>
            </a:r>
          </a:p>
          <a:p>
            <a:pPr>
              <a:spcBef>
                <a:spcPts val="200"/>
              </a:spcBef>
              <a:defRPr sz="1150">
                <a:solidFill>
                  <a:srgbClr val="475569"/>
                </a:solidFill>
                <a:latin typeface="Calibri"/>
              </a:defRPr>
            </a:pPr>
            <a:r>
              <a:t>ACID-compliant relational data modeling optimized for referential integrity and audit trails.</a:t>
            </a:r>
          </a:p>
        </p:txBody>
      </p:sp>
      <p:graphicFrame>
        <p:nvGraphicFramePr>
          <p:cNvPr id="4" name="Table 3"/>
          <p:cNvGraphicFramePr>
            <a:graphicFrameLocks noGrp="1"/>
          </p:cNvGraphicFramePr>
          <p:nvPr/>
        </p:nvGraphicFramePr>
        <p:xfrm>
          <a:off x="731520" y="1645920"/>
          <a:ext cx="10728655" cy="4663440"/>
        </p:xfrm>
        <a:graphic>
          <a:graphicData uri="http://schemas.openxmlformats.org/drawingml/2006/table">
            <a:tbl>
              <a:tblPr firstRow="1" bandRow="1">
                <a:tableStyleId>{5C22544A-7EE6-4342-B048-85BDC9FD1C3A}</a:tableStyleId>
              </a:tblPr>
              <a:tblGrid>
                <a:gridCol w="2011680"/>
                <a:gridCol w="2926080"/>
                <a:gridCol w="3200400"/>
                <a:gridCol w="2590495"/>
              </a:tblGrid>
              <a:tr h="518160">
                <a:tc>
                  <a:txBody>
                    <a:bodyPr/>
                    <a:lstStyle/>
                    <a:p>
                      <a:pPr>
                        <a:defRPr sz="1050" b="1">
                          <a:solidFill>
                            <a:srgbClr val="FFFFFF"/>
                          </a:solidFill>
                          <a:latin typeface="Calibri"/>
                        </a:defRPr>
                      </a:pPr>
                      <a:r>
                        <a:t>Entity Model</a:t>
                      </a:r>
                    </a:p>
                  </a:txBody>
                  <a:tcPr anchor="ctr">
                    <a:solidFill>
                      <a:srgbClr val="0B2545"/>
                    </a:solidFill>
                  </a:tcPr>
                </a:tc>
                <a:tc>
                  <a:txBody>
                    <a:bodyPr/>
                    <a:lstStyle/>
                    <a:p>
                      <a:pPr>
                        <a:defRPr sz="1050" b="1">
                          <a:solidFill>
                            <a:srgbClr val="FFFFFF"/>
                          </a:solidFill>
                          <a:latin typeface="Calibri"/>
                        </a:defRPr>
                      </a:pPr>
                      <a:r>
                        <a:t>Primary / Unique Keys</a:t>
                      </a:r>
                    </a:p>
                  </a:txBody>
                  <a:tcPr anchor="ctr">
                    <a:solidFill>
                      <a:srgbClr val="0B2545"/>
                    </a:solidFill>
                  </a:tcPr>
                </a:tc>
                <a:tc>
                  <a:txBody>
                    <a:bodyPr/>
                    <a:lstStyle/>
                    <a:p>
                      <a:pPr>
                        <a:defRPr sz="1050" b="1">
                          <a:solidFill>
                            <a:srgbClr val="FFFFFF"/>
                          </a:solidFill>
                          <a:latin typeface="Calibri"/>
                        </a:defRPr>
                      </a:pPr>
                      <a:r>
                        <a:t>Foreign Key Relationships</a:t>
                      </a:r>
                    </a:p>
                  </a:txBody>
                  <a:tcPr anchor="ctr">
                    <a:solidFill>
                      <a:srgbClr val="0B2545"/>
                    </a:solidFill>
                  </a:tcPr>
                </a:tc>
                <a:tc>
                  <a:txBody>
                    <a:bodyPr/>
                    <a:lstStyle/>
                    <a:p>
                      <a:pPr>
                        <a:defRPr sz="1050" b="1">
                          <a:solidFill>
                            <a:srgbClr val="FFFFFF"/>
                          </a:solidFill>
                          <a:latin typeface="Calibri"/>
                        </a:defRPr>
                      </a:pPr>
                      <a:r>
                        <a:t>Key Business Function</a:t>
                      </a:r>
                    </a:p>
                  </a:txBody>
                  <a:tcPr anchor="ctr">
                    <a:solidFill>
                      <a:srgbClr val="0B2545"/>
                    </a:solidFill>
                  </a:tcPr>
                </a:tc>
              </a:tr>
              <a:tr h="518160">
                <a:tc>
                  <a:txBody>
                    <a:bodyPr/>
                    <a:lstStyle/>
                    <a:p>
                      <a:pPr>
                        <a:defRPr sz="950" b="1">
                          <a:solidFill>
                            <a:srgbClr val="0B2545"/>
                          </a:solidFill>
                          <a:latin typeface="Calibri"/>
                        </a:defRPr>
                      </a:pPr>
                      <a:r>
                        <a:t>User</a:t>
                      </a:r>
                    </a:p>
                  </a:txBody>
                  <a:tcPr anchor="ctr">
                    <a:solidFill>
                      <a:srgbClr val="FFFFFF"/>
                    </a:solidFill>
                  </a:tcPr>
                </a:tc>
                <a:tc>
                  <a:txBody>
                    <a:bodyPr/>
                    <a:lstStyle/>
                    <a:p>
                      <a:pPr>
                        <a:defRPr sz="950">
                          <a:solidFill>
                            <a:srgbClr val="1E293B"/>
                          </a:solidFill>
                          <a:latin typeface="Calibri"/>
                        </a:defRPr>
                      </a:pPr>
                      <a:r>
                        <a:t>id, username, mobile</a:t>
                      </a:r>
                    </a:p>
                  </a:txBody>
                  <a:tcPr anchor="ctr">
                    <a:solidFill>
                      <a:srgbClr val="FFFFFF"/>
                    </a:solidFill>
                  </a:tcPr>
                </a:tc>
                <a:tc>
                  <a:txBody>
                    <a:bodyPr/>
                    <a:lstStyle/>
                    <a:p>
                      <a:pPr>
                        <a:defRPr sz="950">
                          <a:solidFill>
                            <a:srgbClr val="1E293B"/>
                          </a:solidFill>
                          <a:latin typeface="Calibri"/>
                        </a:defRPr>
                      </a:pPr>
                      <a:r>
                        <a:t>AbstractUser (Django auth)</a:t>
                      </a:r>
                    </a:p>
                  </a:txBody>
                  <a:tcPr anchor="ctr">
                    <a:solidFill>
                      <a:srgbClr val="FFFFFF"/>
                    </a:solidFill>
                  </a:tcPr>
                </a:tc>
                <a:tc>
                  <a:txBody>
                    <a:bodyPr/>
                    <a:lstStyle/>
                    <a:p>
                      <a:pPr>
                        <a:defRPr sz="950">
                          <a:solidFill>
                            <a:srgbClr val="1E293B"/>
                          </a:solidFill>
                          <a:latin typeface="Calibri"/>
                        </a:defRPr>
                      </a:pPr>
                      <a:r>
                        <a:t>Multi-role RBAC (Patient, Doctor, Lab, Pharmacy, Govt, Admin)</a:t>
                      </a:r>
                    </a:p>
                  </a:txBody>
                  <a:tcPr anchor="ctr">
                    <a:solidFill>
                      <a:srgbClr val="FFFFFF"/>
                    </a:solidFill>
                  </a:tcPr>
                </a:tc>
              </a:tr>
              <a:tr h="518160">
                <a:tc>
                  <a:txBody>
                    <a:bodyPr/>
                    <a:lstStyle/>
                    <a:p>
                      <a:pPr>
                        <a:defRPr sz="950" b="1">
                          <a:solidFill>
                            <a:srgbClr val="0B2545"/>
                          </a:solidFill>
                          <a:latin typeface="Calibri"/>
                        </a:defRPr>
                      </a:pPr>
                      <a:r>
                        <a:t>Patient</a:t>
                      </a:r>
                    </a:p>
                  </a:txBody>
                  <a:tcPr anchor="ctr">
                    <a:solidFill>
                      <a:srgbClr val="F0F6FE"/>
                    </a:solidFill>
                  </a:tcPr>
                </a:tc>
                <a:tc>
                  <a:txBody>
                    <a:bodyPr/>
                    <a:lstStyle/>
                    <a:p>
                      <a:pPr>
                        <a:defRPr sz="950">
                          <a:solidFill>
                            <a:srgbClr val="1E293B"/>
                          </a:solidFill>
                          <a:latin typeface="Calibri"/>
                        </a:defRPr>
                      </a:pPr>
                      <a:r>
                        <a:t>patient_id, pan_number, hac_number</a:t>
                      </a:r>
                    </a:p>
                  </a:txBody>
                  <a:tcPr anchor="ctr">
                    <a:solidFill>
                      <a:srgbClr val="F0F6FE"/>
                    </a:solidFill>
                  </a:tcPr>
                </a:tc>
                <a:tc>
                  <a:txBody>
                    <a:bodyPr/>
                    <a:lstStyle/>
                    <a:p>
                      <a:pPr>
                        <a:defRPr sz="950">
                          <a:solidFill>
                            <a:srgbClr val="1E293B"/>
                          </a:solidFill>
                          <a:latin typeface="Calibri"/>
                        </a:defRPr>
                      </a:pPr>
                      <a:r>
                        <a:t>OneToOne -&gt; User</a:t>
                      </a:r>
                    </a:p>
                  </a:txBody>
                  <a:tcPr anchor="ctr">
                    <a:solidFill>
                      <a:srgbClr val="F0F6FE"/>
                    </a:solidFill>
                  </a:tcPr>
                </a:tc>
                <a:tc>
                  <a:txBody>
                    <a:bodyPr/>
                    <a:lstStyle/>
                    <a:p>
                      <a:pPr>
                        <a:defRPr sz="950">
                          <a:solidFill>
                            <a:srgbClr val="1E293B"/>
                          </a:solidFill>
                          <a:latin typeface="Calibri"/>
                        </a:defRPr>
                      </a:pPr>
                      <a:r>
                        <a:t>Deduplicated citizen identity, demographics, blood group, consent</a:t>
                      </a:r>
                    </a:p>
                  </a:txBody>
                  <a:tcPr anchor="ctr">
                    <a:solidFill>
                      <a:srgbClr val="F0F6FE"/>
                    </a:solidFill>
                  </a:tcPr>
                </a:tc>
              </a:tr>
              <a:tr h="518160">
                <a:tc>
                  <a:txBody>
                    <a:bodyPr/>
                    <a:lstStyle/>
                    <a:p>
                      <a:pPr>
                        <a:defRPr sz="950" b="1">
                          <a:solidFill>
                            <a:srgbClr val="0B2545"/>
                          </a:solidFill>
                          <a:latin typeface="Calibri"/>
                        </a:defRPr>
                      </a:pPr>
                      <a:r>
                        <a:t>DoctorProfile</a:t>
                      </a:r>
                    </a:p>
                  </a:txBody>
                  <a:tcPr anchor="ctr">
                    <a:solidFill>
                      <a:srgbClr val="FFFFFF"/>
                    </a:solidFill>
                  </a:tcPr>
                </a:tc>
                <a:tc>
                  <a:txBody>
                    <a:bodyPr/>
                    <a:lstStyle/>
                    <a:p>
                      <a:pPr>
                        <a:defRPr sz="950">
                          <a:solidFill>
                            <a:srgbClr val="1E293B"/>
                          </a:solidFill>
                          <a:latin typeface="Calibri"/>
                        </a:defRPr>
                      </a:pPr>
                      <a:r>
                        <a:t>doctor_id, registration_number</a:t>
                      </a:r>
                    </a:p>
                  </a:txBody>
                  <a:tcPr anchor="ctr">
                    <a:solidFill>
                      <a:srgbClr val="FFFFFF"/>
                    </a:solidFill>
                  </a:tcPr>
                </a:tc>
                <a:tc>
                  <a:txBody>
                    <a:bodyPr/>
                    <a:lstStyle/>
                    <a:p>
                      <a:pPr>
                        <a:defRPr sz="950">
                          <a:solidFill>
                            <a:srgbClr val="1E293B"/>
                          </a:solidFill>
                          <a:latin typeface="Calibri"/>
                        </a:defRPr>
                      </a:pPr>
                      <a:r>
                        <a:t>OneToOne -&gt; User</a:t>
                      </a:r>
                    </a:p>
                  </a:txBody>
                  <a:tcPr anchor="ctr">
                    <a:solidFill>
                      <a:srgbClr val="FFFFFF"/>
                    </a:solidFill>
                  </a:tcPr>
                </a:tc>
                <a:tc>
                  <a:txBody>
                    <a:bodyPr/>
                    <a:lstStyle/>
                    <a:p>
                      <a:pPr>
                        <a:defRPr sz="950">
                          <a:solidFill>
                            <a:srgbClr val="1E293B"/>
                          </a:solidFill>
                          <a:latin typeface="Calibri"/>
                        </a:defRPr>
                      </a:pPr>
                      <a:r>
                        <a:t>Accredited doctor identity, specialization, hospital affiliation</a:t>
                      </a:r>
                    </a:p>
                  </a:txBody>
                  <a:tcPr anchor="ctr">
                    <a:solidFill>
                      <a:srgbClr val="FFFFFF"/>
                    </a:solidFill>
                  </a:tcPr>
                </a:tc>
              </a:tr>
              <a:tr h="518160">
                <a:tc>
                  <a:txBody>
                    <a:bodyPr/>
                    <a:lstStyle/>
                    <a:p>
                      <a:pPr>
                        <a:defRPr sz="950" b="1">
                          <a:solidFill>
                            <a:srgbClr val="0B2545"/>
                          </a:solidFill>
                          <a:latin typeface="Calibri"/>
                        </a:defRPr>
                      </a:pPr>
                      <a:r>
                        <a:t>AppointmentToken</a:t>
                      </a:r>
                    </a:p>
                  </a:txBody>
                  <a:tcPr anchor="ctr">
                    <a:solidFill>
                      <a:srgbClr val="F0F6FE"/>
                    </a:solidFill>
                  </a:tcPr>
                </a:tc>
                <a:tc>
                  <a:txBody>
                    <a:bodyPr/>
                    <a:lstStyle/>
                    <a:p>
                      <a:pPr>
                        <a:defRPr sz="950">
                          <a:solidFill>
                            <a:srgbClr val="1E293B"/>
                          </a:solidFill>
                          <a:latin typeface="Calibri"/>
                        </a:defRPr>
                      </a:pPr>
                      <a:r>
                        <a:t>idempotency_key, (doctor, date, tok)</a:t>
                      </a:r>
                    </a:p>
                  </a:txBody>
                  <a:tcPr anchor="ctr">
                    <a:solidFill>
                      <a:srgbClr val="F0F6FE"/>
                    </a:solidFill>
                  </a:tcPr>
                </a:tc>
                <a:tc>
                  <a:txBody>
                    <a:bodyPr/>
                    <a:lstStyle/>
                    <a:p>
                      <a:pPr>
                        <a:defRPr sz="950">
                          <a:solidFill>
                            <a:srgbClr val="1E293B"/>
                          </a:solidFill>
                          <a:latin typeface="Calibri"/>
                        </a:defRPr>
                      </a:pPr>
                      <a:r>
                        <a:t>FK -&gt; DoctorProfile, OneToOne -&gt; Appt</a:t>
                      </a:r>
                    </a:p>
                  </a:txBody>
                  <a:tcPr anchor="ctr">
                    <a:solidFill>
                      <a:srgbClr val="F0F6FE"/>
                    </a:solidFill>
                  </a:tcPr>
                </a:tc>
                <a:tc>
                  <a:txBody>
                    <a:bodyPr/>
                    <a:lstStyle/>
                    <a:p>
                      <a:pPr>
                        <a:defRPr sz="950">
                          <a:solidFill>
                            <a:srgbClr val="1E293B"/>
                          </a:solidFill>
                          <a:latin typeface="Calibri"/>
                        </a:defRPr>
                      </a:pPr>
                      <a:r>
                        <a:t>Atomic sequential OPD queue number, waiting/consulting states</a:t>
                      </a:r>
                    </a:p>
                  </a:txBody>
                  <a:tcPr anchor="ctr">
                    <a:solidFill>
                      <a:srgbClr val="F0F6FE"/>
                    </a:solidFill>
                  </a:tcPr>
                </a:tc>
              </a:tr>
              <a:tr h="518160">
                <a:tc>
                  <a:txBody>
                    <a:bodyPr/>
                    <a:lstStyle/>
                    <a:p>
                      <a:pPr>
                        <a:defRPr sz="950" b="1">
                          <a:solidFill>
                            <a:srgbClr val="0B2545"/>
                          </a:solidFill>
                          <a:latin typeface="Calibri"/>
                        </a:defRPr>
                      </a:pPr>
                      <a:r>
                        <a:t>Consultation</a:t>
                      </a:r>
                    </a:p>
                  </a:txBody>
                  <a:tcPr anchor="ctr">
                    <a:solidFill>
                      <a:srgbClr val="FFFFFF"/>
                    </a:solidFill>
                  </a:tcPr>
                </a:tc>
                <a:tc>
                  <a:txBody>
                    <a:bodyPr/>
                    <a:lstStyle/>
                    <a:p>
                      <a:pPr>
                        <a:defRPr sz="950">
                          <a:solidFill>
                            <a:srgbClr val="1E293B"/>
                          </a:solidFill>
                          <a:latin typeface="Calibri"/>
                        </a:defRPr>
                      </a:pPr>
                      <a:r>
                        <a:t>consultation_id</a:t>
                      </a:r>
                    </a:p>
                  </a:txBody>
                  <a:tcPr anchor="ctr">
                    <a:solidFill>
                      <a:srgbClr val="FFFFFF"/>
                    </a:solidFill>
                  </a:tcPr>
                </a:tc>
                <a:tc>
                  <a:txBody>
                    <a:bodyPr/>
                    <a:lstStyle/>
                    <a:p>
                      <a:pPr>
                        <a:defRPr sz="950">
                          <a:solidFill>
                            <a:srgbClr val="1E293B"/>
                          </a:solidFill>
                          <a:latin typeface="Calibri"/>
                        </a:defRPr>
                      </a:pPr>
                      <a:r>
                        <a:t>FK -&gt; Patient, FK -&gt; DoctorProfile</a:t>
                      </a:r>
                    </a:p>
                  </a:txBody>
                  <a:tcPr anchor="ctr">
                    <a:solidFill>
                      <a:srgbClr val="FFFFFF"/>
                    </a:solidFill>
                  </a:tcPr>
                </a:tc>
                <a:tc>
                  <a:txBody>
                    <a:bodyPr/>
                    <a:lstStyle/>
                    <a:p>
                      <a:pPr>
                        <a:defRPr sz="950">
                          <a:solidFill>
                            <a:srgbClr val="1E293B"/>
                          </a:solidFill>
                          <a:latin typeface="Calibri"/>
                        </a:defRPr>
                      </a:pPr>
                      <a:r>
                        <a:t>Clinical diagnosis, doctor notes, surgery &amp; lab referrals</a:t>
                      </a:r>
                    </a:p>
                  </a:txBody>
                  <a:tcPr anchor="ctr">
                    <a:solidFill>
                      <a:srgbClr val="FFFFFF"/>
                    </a:solidFill>
                  </a:tcPr>
                </a:tc>
              </a:tr>
              <a:tr h="518160">
                <a:tc>
                  <a:txBody>
                    <a:bodyPr/>
                    <a:lstStyle/>
                    <a:p>
                      <a:pPr>
                        <a:defRPr sz="950" b="1">
                          <a:solidFill>
                            <a:srgbClr val="0B2545"/>
                          </a:solidFill>
                          <a:latin typeface="Calibri"/>
                        </a:defRPr>
                      </a:pPr>
                      <a:r>
                        <a:t>Prescription</a:t>
                      </a:r>
                    </a:p>
                  </a:txBody>
                  <a:tcPr anchor="ctr">
                    <a:solidFill>
                      <a:srgbClr val="F0F6FE"/>
                    </a:solidFill>
                  </a:tcPr>
                </a:tc>
                <a:tc>
                  <a:txBody>
                    <a:bodyPr/>
                    <a:lstStyle/>
                    <a:p>
                      <a:pPr>
                        <a:defRPr sz="950">
                          <a:solidFill>
                            <a:srgbClr val="1E293B"/>
                          </a:solidFill>
                          <a:latin typeface="Calibri"/>
                        </a:defRPr>
                      </a:pPr>
                      <a:r>
                        <a:t>prescription_id</a:t>
                      </a:r>
                    </a:p>
                  </a:txBody>
                  <a:tcPr anchor="ctr">
                    <a:solidFill>
                      <a:srgbClr val="F0F6FE"/>
                    </a:solidFill>
                  </a:tcPr>
                </a:tc>
                <a:tc>
                  <a:txBody>
                    <a:bodyPr/>
                    <a:lstStyle/>
                    <a:p>
                      <a:pPr>
                        <a:defRPr sz="950">
                          <a:solidFill>
                            <a:srgbClr val="1E293B"/>
                          </a:solidFill>
                          <a:latin typeface="Calibri"/>
                        </a:defRPr>
                      </a:pPr>
                      <a:r>
                        <a:t>FK -&gt; Consultation, Patient, Doctor</a:t>
                      </a:r>
                    </a:p>
                  </a:txBody>
                  <a:tcPr anchor="ctr">
                    <a:solidFill>
                      <a:srgbClr val="F0F6FE"/>
                    </a:solidFill>
                  </a:tcPr>
                </a:tc>
                <a:tc>
                  <a:txBody>
                    <a:bodyPr/>
                    <a:lstStyle/>
                    <a:p>
                      <a:pPr>
                        <a:defRPr sz="950">
                          <a:solidFill>
                            <a:srgbClr val="1E293B"/>
                          </a:solidFill>
                          <a:latin typeface="Calibri"/>
                        </a:defRPr>
                      </a:pPr>
                      <a:r>
                        <a:t>E-prescription medicine schedule, dosage, dispensation status</a:t>
                      </a:r>
                    </a:p>
                  </a:txBody>
                  <a:tcPr anchor="ctr">
                    <a:solidFill>
                      <a:srgbClr val="F0F6FE"/>
                    </a:solidFill>
                  </a:tcPr>
                </a:tc>
              </a:tr>
              <a:tr h="518160">
                <a:tc>
                  <a:txBody>
                    <a:bodyPr/>
                    <a:lstStyle/>
                    <a:p>
                      <a:pPr>
                        <a:defRPr sz="950" b="1">
                          <a:solidFill>
                            <a:srgbClr val="0B2545"/>
                          </a:solidFill>
                          <a:latin typeface="Calibri"/>
                        </a:defRPr>
                      </a:pPr>
                      <a:r>
                        <a:t>FundAllocation</a:t>
                      </a:r>
                    </a:p>
                  </a:txBody>
                  <a:tcPr anchor="ctr">
                    <a:solidFill>
                      <a:srgbClr val="FFFFFF"/>
                    </a:solidFill>
                  </a:tcPr>
                </a:tc>
                <a:tc>
                  <a:txBody>
                    <a:bodyPr/>
                    <a:lstStyle/>
                    <a:p>
                      <a:pPr>
                        <a:defRPr sz="950">
                          <a:solidFill>
                            <a:srgbClr val="1E293B"/>
                          </a:solidFill>
                          <a:latin typeface="Calibri"/>
                        </a:defRPr>
                      </a:pPr>
                      <a:r>
                        <a:t>allocation_id</a:t>
                      </a:r>
                    </a:p>
                  </a:txBody>
                  <a:tcPr anchor="ctr">
                    <a:solidFill>
                      <a:srgbClr val="FFFFFF"/>
                    </a:solidFill>
                  </a:tcPr>
                </a:tc>
                <a:tc>
                  <a:txBody>
                    <a:bodyPr/>
                    <a:lstStyle/>
                    <a:p>
                      <a:pPr>
                        <a:defRPr sz="950">
                          <a:solidFill>
                            <a:srgbClr val="1E293B"/>
                          </a:solidFill>
                          <a:latin typeface="Calibri"/>
                        </a:defRPr>
                      </a:pPr>
                      <a:r>
                        <a:t>FK -&gt; Patient, Scheme, InsuranceClaim</a:t>
                      </a:r>
                    </a:p>
                  </a:txBody>
                  <a:tcPr anchor="ctr">
                    <a:solidFill>
                      <a:srgbClr val="FFFFFF"/>
                    </a:solidFill>
                  </a:tcPr>
                </a:tc>
                <a:tc>
                  <a:txBody>
                    <a:bodyPr/>
                    <a:lstStyle/>
                    <a:p>
                      <a:pPr>
                        <a:defRPr sz="950">
                          <a:solidFill>
                            <a:srgbClr val="1E293B"/>
                          </a:solidFill>
                          <a:latin typeface="Calibri"/>
                        </a:defRPr>
                      </a:pPr>
                      <a:r>
                        <a:t>5-tier distributed settlement calculation and approval snapshot</a:t>
                      </a:r>
                    </a:p>
                  </a:txBody>
                  <a:tcPr anchor="ctr">
                    <a:solidFill>
                      <a:srgbClr val="FFFFFF"/>
                    </a:solidFill>
                  </a:tcPr>
                </a:tc>
              </a:tr>
              <a:tr h="518160">
                <a:tc>
                  <a:txBody>
                    <a:bodyPr/>
                    <a:lstStyle/>
                    <a:p>
                      <a:pPr>
                        <a:defRPr sz="950" b="1">
                          <a:solidFill>
                            <a:srgbClr val="0B2545"/>
                          </a:solidFill>
                          <a:latin typeface="Calibri"/>
                        </a:defRPr>
                      </a:pPr>
                      <a:r>
                        <a:t>ReserveLedgerEntry</a:t>
                      </a:r>
                    </a:p>
                  </a:txBody>
                  <a:tcPr anchor="ctr">
                    <a:solidFill>
                      <a:srgbClr val="F0F6FE"/>
                    </a:solidFill>
                  </a:tcPr>
                </a:tc>
                <a:tc>
                  <a:txBody>
                    <a:bodyPr/>
                    <a:lstStyle/>
                    <a:p>
                      <a:pPr>
                        <a:defRPr sz="950">
                          <a:solidFill>
                            <a:srgbClr val="1E293B"/>
                          </a:solidFill>
                          <a:latin typeface="Calibri"/>
                        </a:defRPr>
                      </a:pPr>
                      <a:r>
                        <a:t>id, transaction_hash</a:t>
                      </a:r>
                    </a:p>
                  </a:txBody>
                  <a:tcPr anchor="ctr">
                    <a:solidFill>
                      <a:srgbClr val="F0F6FE"/>
                    </a:solidFill>
                  </a:tcPr>
                </a:tc>
                <a:tc>
                  <a:txBody>
                    <a:bodyPr/>
                    <a:lstStyle/>
                    <a:p>
                      <a:pPr>
                        <a:defRPr sz="950">
                          <a:solidFill>
                            <a:srgbClr val="1E293B"/>
                          </a:solidFill>
                          <a:latin typeface="Calibri"/>
                        </a:defRPr>
                      </a:pPr>
                      <a:r>
                        <a:t>FK -&gt; HealthcareReserveAccount</a:t>
                      </a:r>
                    </a:p>
                  </a:txBody>
                  <a:tcPr anchor="ctr">
                    <a:solidFill>
                      <a:srgbClr val="F0F6FE"/>
                    </a:solidFill>
                  </a:tcPr>
                </a:tc>
                <a:tc>
                  <a:txBody>
                    <a:bodyPr/>
                    <a:lstStyle/>
                    <a:p>
                      <a:pPr>
                        <a:defRPr sz="950">
                          <a:solidFill>
                            <a:srgbClr val="1E293B"/>
                          </a:solidFill>
                          <a:latin typeface="Calibri"/>
                        </a:defRPr>
                      </a:pPr>
                      <a:r>
                        <a:t>Immutable double-entry append-only credit/debit transaction log</a:t>
                      </a:r>
                    </a:p>
                  </a:txBody>
                  <a:tcPr anchor="ctr">
                    <a:solidFill>
                      <a:srgbClr val="F0F6FE"/>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1050" b="1">
                <a:solidFill>
                  <a:srgbClr val="0D9488"/>
                </a:solidFill>
                <a:latin typeface="Calibri"/>
              </a:defRPr>
            </a:pPr>
            <a:r>
              <a:t>LIFECYCLE &amp; USER JOURNEY</a:t>
            </a:r>
          </a:p>
          <a:p>
            <a:pPr>
              <a:defRPr sz="2200" b="1">
                <a:solidFill>
                  <a:srgbClr val="0B2545"/>
                </a:solidFill>
                <a:latin typeface="Georgia"/>
              </a:defRPr>
            </a:pPr>
            <a:r>
              <a:t>End-to-End Application Workflow &amp; Data Flow</a:t>
            </a:r>
          </a:p>
          <a:p>
            <a:pPr>
              <a:spcBef>
                <a:spcPts val="200"/>
              </a:spcBef>
              <a:defRPr sz="1150">
                <a:solidFill>
                  <a:srgbClr val="475569"/>
                </a:solidFill>
                <a:latin typeface="Calibri"/>
              </a:defRPr>
            </a:pPr>
            <a:r>
              <a:t>Step-by-step longitudinal journey from patient registration to centralized reporting.</a:t>
            </a:r>
          </a:p>
        </p:txBody>
      </p:sp>
      <p:sp>
        <p:nvSpPr>
          <p:cNvPr id="4" name="Rounded Rectangle 3"/>
          <p:cNvSpPr/>
          <p:nvPr/>
        </p:nvSpPr>
        <p:spPr>
          <a:xfrm>
            <a:off x="731520" y="1645920"/>
            <a:ext cx="2468880"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645920"/>
            <a:ext cx="2468880" cy="32004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Calibri"/>
              </a:defRPr>
            </a:pPr>
            <a:r>
              <a:t>STEP 1: PAN REGISTRATION</a:t>
            </a:r>
          </a:p>
        </p:txBody>
      </p:sp>
      <p:sp>
        <p:nvSpPr>
          <p:cNvPr id="6" name="TextBox 5"/>
          <p:cNvSpPr txBox="1"/>
          <p:nvPr/>
        </p:nvSpPr>
        <p:spPr>
          <a:xfrm>
            <a:off x="841248" y="2029968"/>
            <a:ext cx="2249424" cy="1645920"/>
          </a:xfrm>
          <a:prstGeom prst="rect">
            <a:avLst/>
          </a:prstGeom>
          <a:noFill/>
        </p:spPr>
        <p:txBody>
          <a:bodyPr wrap="square">
            <a:spAutoFit/>
          </a:bodyPr>
          <a:lstStyle/>
          <a:p>
            <a:pPr>
              <a:defRPr sz="1000">
                <a:solidFill>
                  <a:srgbClr val="1E293B"/>
                </a:solidFill>
                <a:latin typeface="Calibri"/>
              </a:defRPr>
            </a:pPr>
            <a:r>
              <a:t>Patient enters details; PAN verified via regex; deduplication check; PAT-2026-XXXXXX created.</a:t>
            </a:r>
          </a:p>
        </p:txBody>
      </p:sp>
      <p:sp>
        <p:nvSpPr>
          <p:cNvPr id="7" name="Rounded Rectangle 6"/>
          <p:cNvSpPr/>
          <p:nvPr/>
        </p:nvSpPr>
        <p:spPr>
          <a:xfrm>
            <a:off x="3483863" y="1645920"/>
            <a:ext cx="2468880"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483863" y="1645920"/>
            <a:ext cx="2468880" cy="320040"/>
          </a:xfrm>
          <a:prstGeom prst="rect">
            <a:avLst/>
          </a:prstGeom>
          <a:solidFill>
            <a:srgbClr val="1340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Calibri"/>
              </a:defRPr>
            </a:pPr>
            <a:r>
              <a:t>STEP 2: AI TRIAGE &amp; BOOKING</a:t>
            </a:r>
          </a:p>
        </p:txBody>
      </p:sp>
      <p:sp>
        <p:nvSpPr>
          <p:cNvPr id="9" name="TextBox 8"/>
          <p:cNvSpPr txBox="1"/>
          <p:nvPr/>
        </p:nvSpPr>
        <p:spPr>
          <a:xfrm>
            <a:off x="3593591" y="2029968"/>
            <a:ext cx="2249424" cy="1645920"/>
          </a:xfrm>
          <a:prstGeom prst="rect">
            <a:avLst/>
          </a:prstGeom>
          <a:noFill/>
        </p:spPr>
        <p:txBody>
          <a:bodyPr wrap="square">
            <a:spAutoFit/>
          </a:bodyPr>
          <a:lstStyle/>
          <a:p>
            <a:pPr>
              <a:defRPr sz="1000">
                <a:solidFill>
                  <a:srgbClr val="1E293B"/>
                </a:solidFill>
                <a:latin typeface="Calibri"/>
              </a:defRPr>
            </a:pPr>
            <a:r>
              <a:t>AI evaluates symptoms or flags 108 emergency; atomic token allocated without race collision.</a:t>
            </a:r>
          </a:p>
        </p:txBody>
      </p:sp>
      <p:sp>
        <p:nvSpPr>
          <p:cNvPr id="10" name="Rounded Rectangle 9"/>
          <p:cNvSpPr/>
          <p:nvPr/>
        </p:nvSpPr>
        <p:spPr>
          <a:xfrm>
            <a:off x="6236207" y="1645920"/>
            <a:ext cx="2468880"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36207" y="1645920"/>
            <a:ext cx="2468880" cy="320040"/>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Calibri"/>
              </a:defRPr>
            </a:pPr>
            <a:r>
              <a:t>STEP 3: DOCTOR CONSULTATION</a:t>
            </a:r>
          </a:p>
        </p:txBody>
      </p:sp>
      <p:sp>
        <p:nvSpPr>
          <p:cNvPr id="12" name="TextBox 11"/>
          <p:cNvSpPr txBox="1"/>
          <p:nvPr/>
        </p:nvSpPr>
        <p:spPr>
          <a:xfrm>
            <a:off x="6345935" y="2029968"/>
            <a:ext cx="2249424" cy="1645920"/>
          </a:xfrm>
          <a:prstGeom prst="rect">
            <a:avLst/>
          </a:prstGeom>
          <a:noFill/>
        </p:spPr>
        <p:txBody>
          <a:bodyPr wrap="square">
            <a:spAutoFit/>
          </a:bodyPr>
          <a:lstStyle/>
          <a:p>
            <a:pPr>
              <a:defRPr sz="1000">
                <a:solidFill>
                  <a:srgbClr val="1E293B"/>
                </a:solidFill>
                <a:latin typeface="Calibri"/>
              </a:defRPr>
            </a:pPr>
            <a:r>
              <a:t>Doctor calls next token; records examination, ICD diagnosis, notes &amp; issues e-prescription.</a:t>
            </a:r>
          </a:p>
        </p:txBody>
      </p:sp>
      <p:sp>
        <p:nvSpPr>
          <p:cNvPr id="13" name="Rounded Rectangle 12"/>
          <p:cNvSpPr/>
          <p:nvPr/>
        </p:nvSpPr>
        <p:spPr>
          <a:xfrm>
            <a:off x="8988552" y="1645920"/>
            <a:ext cx="2468880"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988552" y="1645920"/>
            <a:ext cx="2468880" cy="32004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Calibri"/>
              </a:defRPr>
            </a:pPr>
            <a:r>
              <a:t>STEP 4: PATHOLOGY INVESTIGATION</a:t>
            </a:r>
          </a:p>
        </p:txBody>
      </p:sp>
      <p:sp>
        <p:nvSpPr>
          <p:cNvPr id="15" name="TextBox 14"/>
          <p:cNvSpPr txBox="1"/>
          <p:nvPr/>
        </p:nvSpPr>
        <p:spPr>
          <a:xfrm>
            <a:off x="9098280" y="2029968"/>
            <a:ext cx="2249424" cy="1645920"/>
          </a:xfrm>
          <a:prstGeom prst="rect">
            <a:avLst/>
          </a:prstGeom>
          <a:noFill/>
        </p:spPr>
        <p:txBody>
          <a:bodyPr wrap="square">
            <a:spAutoFit/>
          </a:bodyPr>
          <a:lstStyle/>
          <a:p>
            <a:pPr>
              <a:defRPr sz="1000">
                <a:solidFill>
                  <a:srgbClr val="1E293B"/>
                </a:solidFill>
                <a:latin typeface="Calibri"/>
              </a:defRPr>
            </a:pPr>
            <a:r>
              <a:t>Certified lab conducts tests; uploads parameters; marks report verified with 0% GST.</a:t>
            </a:r>
          </a:p>
        </p:txBody>
      </p:sp>
      <p:sp>
        <p:nvSpPr>
          <p:cNvPr id="16" name="Rounded Rectangle 15"/>
          <p:cNvSpPr/>
          <p:nvPr/>
        </p:nvSpPr>
        <p:spPr>
          <a:xfrm>
            <a:off x="731520" y="4069080"/>
            <a:ext cx="2468880"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1520" y="4069080"/>
            <a:ext cx="2468880" cy="32004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Calibri"/>
              </a:defRPr>
            </a:pPr>
            <a:r>
              <a:t>STEP 5: PHARMACY DISPENSATION</a:t>
            </a:r>
          </a:p>
        </p:txBody>
      </p:sp>
      <p:sp>
        <p:nvSpPr>
          <p:cNvPr id="18" name="TextBox 17"/>
          <p:cNvSpPr txBox="1"/>
          <p:nvPr/>
        </p:nvSpPr>
        <p:spPr>
          <a:xfrm>
            <a:off x="841248" y="4453128"/>
            <a:ext cx="2249424" cy="1645920"/>
          </a:xfrm>
          <a:prstGeom prst="rect">
            <a:avLst/>
          </a:prstGeom>
          <a:noFill/>
        </p:spPr>
        <p:txBody>
          <a:bodyPr wrap="square">
            <a:spAutoFit/>
          </a:bodyPr>
          <a:lstStyle/>
          <a:p>
            <a:pPr>
              <a:defRPr sz="1000">
                <a:solidFill>
                  <a:srgbClr val="1E293B"/>
                </a:solidFill>
                <a:latin typeface="Calibri"/>
              </a:defRPr>
            </a:pPr>
            <a:r>
              <a:t>Pharmacy verifies prescription; dispenses medicines; computes 5% concessional GST invoice.</a:t>
            </a:r>
          </a:p>
        </p:txBody>
      </p:sp>
      <p:sp>
        <p:nvSpPr>
          <p:cNvPr id="19" name="Rounded Rectangle 18"/>
          <p:cNvSpPr/>
          <p:nvPr/>
        </p:nvSpPr>
        <p:spPr>
          <a:xfrm>
            <a:off x="3483863" y="4069080"/>
            <a:ext cx="2468880"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483863" y="4069080"/>
            <a:ext cx="2468880" cy="320040"/>
          </a:xfrm>
          <a:prstGeom prst="rect">
            <a:avLst/>
          </a:prstGeom>
          <a:solidFill>
            <a:srgbClr val="1340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Calibri"/>
              </a:defRPr>
            </a:pPr>
            <a:r>
              <a:t>STEP 6: SCHEME PRE-AUTH</a:t>
            </a:r>
          </a:p>
        </p:txBody>
      </p:sp>
      <p:sp>
        <p:nvSpPr>
          <p:cNvPr id="21" name="TextBox 20"/>
          <p:cNvSpPr txBox="1"/>
          <p:nvPr/>
        </p:nvSpPr>
        <p:spPr>
          <a:xfrm>
            <a:off x="3593591" y="4453128"/>
            <a:ext cx="2249424" cy="1645920"/>
          </a:xfrm>
          <a:prstGeom prst="rect">
            <a:avLst/>
          </a:prstGeom>
          <a:noFill/>
        </p:spPr>
        <p:txBody>
          <a:bodyPr wrap="square">
            <a:spAutoFit/>
          </a:bodyPr>
          <a:lstStyle/>
          <a:p>
            <a:pPr>
              <a:defRPr sz="1000">
                <a:solidFill>
                  <a:srgbClr val="1E293B"/>
                </a:solidFill>
                <a:latin typeface="Calibri"/>
              </a:defRPr>
            </a:pPr>
            <a:r>
              <a:t>Hospital applies for PM-JAY / MJPJAY pre-authorization; govt officer reviews &amp; approves fund.</a:t>
            </a:r>
          </a:p>
        </p:txBody>
      </p:sp>
      <p:sp>
        <p:nvSpPr>
          <p:cNvPr id="22" name="Rounded Rectangle 21"/>
          <p:cNvSpPr/>
          <p:nvPr/>
        </p:nvSpPr>
        <p:spPr>
          <a:xfrm>
            <a:off x="6236207" y="4069080"/>
            <a:ext cx="2468880"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7" y="4069080"/>
            <a:ext cx="2468880" cy="320040"/>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Calibri"/>
              </a:defRPr>
            </a:pPr>
            <a:r>
              <a:t>STEP 7: 5-TIER FUND SETTLEMENT</a:t>
            </a:r>
          </a:p>
        </p:txBody>
      </p:sp>
      <p:sp>
        <p:nvSpPr>
          <p:cNvPr id="24" name="TextBox 23"/>
          <p:cNvSpPr txBox="1"/>
          <p:nvPr/>
        </p:nvSpPr>
        <p:spPr>
          <a:xfrm>
            <a:off x="6345935" y="4453128"/>
            <a:ext cx="2249424" cy="1645920"/>
          </a:xfrm>
          <a:prstGeom prst="rect">
            <a:avLst/>
          </a:prstGeom>
          <a:noFill/>
        </p:spPr>
        <p:txBody>
          <a:bodyPr wrap="square">
            <a:spAutoFit/>
          </a:bodyPr>
          <a:lstStyle/>
          <a:p>
            <a:pPr>
              <a:defRPr sz="1000">
                <a:solidFill>
                  <a:srgbClr val="1E293B"/>
                </a:solidFill>
                <a:latin typeface="Calibri"/>
              </a:defRPr>
            </a:pPr>
            <a:r>
              <a:t>Engine splits package: 10% Doc, 10% Lab, 5% Med, 5% Gov, 70% Benefit Wallet; 90% reserve credited.</a:t>
            </a:r>
          </a:p>
        </p:txBody>
      </p:sp>
      <p:sp>
        <p:nvSpPr>
          <p:cNvPr id="25" name="Rounded Rectangle 24"/>
          <p:cNvSpPr/>
          <p:nvPr/>
        </p:nvSpPr>
        <p:spPr>
          <a:xfrm>
            <a:off x="8988552" y="4069080"/>
            <a:ext cx="2468880"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8552" y="4069080"/>
            <a:ext cx="2468880" cy="32004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Calibri"/>
              </a:defRPr>
            </a:pPr>
            <a:r>
              <a:t>STEP 8: CENTRALIZED REPORTING</a:t>
            </a:r>
          </a:p>
        </p:txBody>
      </p:sp>
      <p:sp>
        <p:nvSpPr>
          <p:cNvPr id="27" name="TextBox 26"/>
          <p:cNvSpPr txBox="1"/>
          <p:nvPr/>
        </p:nvSpPr>
        <p:spPr>
          <a:xfrm>
            <a:off x="9098280" y="4453128"/>
            <a:ext cx="2249424" cy="1645920"/>
          </a:xfrm>
          <a:prstGeom prst="rect">
            <a:avLst/>
          </a:prstGeom>
          <a:noFill/>
        </p:spPr>
        <p:txBody>
          <a:bodyPr wrap="square">
            <a:spAutoFit/>
          </a:bodyPr>
          <a:lstStyle/>
          <a:p>
            <a:pPr>
              <a:defRPr sz="1000">
                <a:solidFill>
                  <a:srgbClr val="1E293B"/>
                </a:solidFill>
                <a:latin typeface="Calibri"/>
              </a:defRPr>
            </a:pPr>
            <a:r>
              <a:t>Aggregates medical journey into single view; dynamic ReportLab PDF &amp; CSV downloaded.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1050" b="1">
                <a:solidFill>
                  <a:srgbClr val="0D9488"/>
                </a:solidFill>
                <a:latin typeface="Calibri"/>
              </a:defRPr>
            </a:pPr>
            <a:r>
              <a:t>VERIFICATION &amp; METRICS</a:t>
            </a:r>
          </a:p>
          <a:p>
            <a:pPr>
              <a:defRPr sz="2200" b="1">
                <a:solidFill>
                  <a:srgbClr val="0B2545"/>
                </a:solidFill>
                <a:latin typeface="Georgia"/>
              </a:defRPr>
            </a:pPr>
            <a:r>
              <a:t>Empirical Automated Integration Testing Results</a:t>
            </a:r>
          </a:p>
          <a:p>
            <a:pPr>
              <a:spcBef>
                <a:spcPts val="200"/>
              </a:spcBef>
              <a:defRPr sz="1150">
                <a:solidFill>
                  <a:srgbClr val="475569"/>
                </a:solidFill>
                <a:latin typeface="Calibri"/>
              </a:defRPr>
            </a:pPr>
            <a:r>
              <a:t>100% assertion pass rate across 11 automated test suites in backend/tests_integration.py.</a:t>
            </a:r>
          </a:p>
        </p:txBody>
      </p:sp>
      <p:graphicFrame>
        <p:nvGraphicFramePr>
          <p:cNvPr id="4" name="Table 3"/>
          <p:cNvGraphicFramePr>
            <a:graphicFrameLocks noGrp="1"/>
          </p:cNvGraphicFramePr>
          <p:nvPr/>
        </p:nvGraphicFramePr>
        <p:xfrm>
          <a:off x="731520" y="1645920"/>
          <a:ext cx="10728655" cy="4663440"/>
        </p:xfrm>
        <a:graphic>
          <a:graphicData uri="http://schemas.openxmlformats.org/drawingml/2006/table">
            <a:tbl>
              <a:tblPr firstRow="1" bandRow="1">
                <a:tableStyleId>{5C22544A-7EE6-4342-B048-85BDC9FD1C3A}</a:tableStyleId>
              </a:tblPr>
              <a:tblGrid>
                <a:gridCol w="1005840"/>
                <a:gridCol w="2011680"/>
                <a:gridCol w="5333695"/>
                <a:gridCol w="1188720"/>
                <a:gridCol w="1188720"/>
              </a:tblGrid>
              <a:tr h="388620">
                <a:tc>
                  <a:txBody>
                    <a:bodyPr/>
                    <a:lstStyle/>
                    <a:p>
                      <a:pPr>
                        <a:defRPr sz="1000" b="1">
                          <a:solidFill>
                            <a:srgbClr val="FFFFFF"/>
                          </a:solidFill>
                          <a:latin typeface="Calibri"/>
                        </a:defRPr>
                      </a:pPr>
                      <a:r>
                        <a:t>Suite ID</a:t>
                      </a:r>
                    </a:p>
                  </a:txBody>
                  <a:tcPr anchor="ctr">
                    <a:solidFill>
                      <a:srgbClr val="0B2545"/>
                    </a:solidFill>
                  </a:tcPr>
                </a:tc>
                <a:tc>
                  <a:txBody>
                    <a:bodyPr/>
                    <a:lstStyle/>
                    <a:p>
                      <a:pPr>
                        <a:defRPr sz="1000" b="1">
                          <a:solidFill>
                            <a:srgbClr val="FFFFFF"/>
                          </a:solidFill>
                          <a:latin typeface="Calibri"/>
                        </a:defRPr>
                      </a:pPr>
                      <a:r>
                        <a:t>Target Subsystem</a:t>
                      </a:r>
                    </a:p>
                  </a:txBody>
                  <a:tcPr anchor="ctr">
                    <a:solidFill>
                      <a:srgbClr val="0B2545"/>
                    </a:solidFill>
                  </a:tcPr>
                </a:tc>
                <a:tc>
                  <a:txBody>
                    <a:bodyPr/>
                    <a:lstStyle/>
                    <a:p>
                      <a:pPr>
                        <a:defRPr sz="1000" b="1">
                          <a:solidFill>
                            <a:srgbClr val="FFFFFF"/>
                          </a:solidFill>
                          <a:latin typeface="Calibri"/>
                        </a:defRPr>
                      </a:pPr>
                      <a:r>
                        <a:t>Key Verified Business Requirement</a:t>
                      </a:r>
                    </a:p>
                  </a:txBody>
                  <a:tcPr anchor="ctr">
                    <a:solidFill>
                      <a:srgbClr val="0B2545"/>
                    </a:solidFill>
                  </a:tcPr>
                </a:tc>
                <a:tc>
                  <a:txBody>
                    <a:bodyPr/>
                    <a:lstStyle/>
                    <a:p>
                      <a:pPr>
                        <a:defRPr sz="1000" b="1">
                          <a:solidFill>
                            <a:srgbClr val="FFFFFF"/>
                          </a:solidFill>
                          <a:latin typeface="Calibri"/>
                        </a:defRPr>
                      </a:pPr>
                      <a:r>
                        <a:t>Latency</a:t>
                      </a:r>
                    </a:p>
                  </a:txBody>
                  <a:tcPr anchor="ctr">
                    <a:solidFill>
                      <a:srgbClr val="0B2545"/>
                    </a:solidFill>
                  </a:tcPr>
                </a:tc>
                <a:tc>
                  <a:txBody>
                    <a:bodyPr/>
                    <a:lstStyle/>
                    <a:p>
                      <a:pPr>
                        <a:defRPr sz="1000" b="1">
                          <a:solidFill>
                            <a:srgbClr val="FFFFFF"/>
                          </a:solidFill>
                          <a:latin typeface="Calibri"/>
                        </a:defRPr>
                      </a:pPr>
                      <a:r>
                        <a:t>Status</a:t>
                      </a:r>
                    </a:p>
                  </a:txBody>
                  <a:tcPr anchor="ctr">
                    <a:solidFill>
                      <a:srgbClr val="0B2545"/>
                    </a:solidFill>
                  </a:tcPr>
                </a:tc>
              </a:tr>
              <a:tr h="388620">
                <a:tc>
                  <a:txBody>
                    <a:bodyPr/>
                    <a:lstStyle/>
                    <a:p>
                      <a:pPr>
                        <a:defRPr sz="900" b="1">
                          <a:solidFill>
                            <a:srgbClr val="0B2545"/>
                          </a:solidFill>
                          <a:latin typeface="Calibri"/>
                        </a:defRPr>
                      </a:pPr>
                      <a:r>
                        <a:t>TEST-01</a:t>
                      </a:r>
                    </a:p>
                  </a:txBody>
                  <a:tcPr anchor="ctr">
                    <a:solidFill>
                      <a:srgbClr val="FFFFFF"/>
                    </a:solidFill>
                  </a:tcPr>
                </a:tc>
                <a:tc>
                  <a:txBody>
                    <a:bodyPr/>
                    <a:lstStyle/>
                    <a:p>
                      <a:pPr>
                        <a:defRPr sz="900">
                          <a:solidFill>
                            <a:srgbClr val="1E293B"/>
                          </a:solidFill>
                          <a:latin typeface="Calibri"/>
                        </a:defRPr>
                      </a:pPr>
                      <a:r>
                        <a:t>Patient Registration</a:t>
                      </a:r>
                    </a:p>
                  </a:txBody>
                  <a:tcPr anchor="ctr">
                    <a:solidFill>
                      <a:srgbClr val="FFFFFF"/>
                    </a:solidFill>
                  </a:tcPr>
                </a:tc>
                <a:tc>
                  <a:txBody>
                    <a:bodyPr/>
                    <a:lstStyle/>
                    <a:p>
                      <a:pPr>
                        <a:defRPr sz="900">
                          <a:solidFill>
                            <a:srgbClr val="1E293B"/>
                          </a:solidFill>
                          <a:latin typeface="Calibri"/>
                        </a:defRPr>
                      </a:pPr>
                      <a:r>
                        <a:t>PAN regex validation, sequential PAT ID, duplicate prevention</a:t>
                      </a:r>
                    </a:p>
                  </a:txBody>
                  <a:tcPr anchor="ctr">
                    <a:solidFill>
                      <a:srgbClr val="FFFFFF"/>
                    </a:solidFill>
                  </a:tcPr>
                </a:tc>
                <a:tc>
                  <a:txBody>
                    <a:bodyPr/>
                    <a:lstStyle/>
                    <a:p>
                      <a:pPr>
                        <a:defRPr sz="900">
                          <a:solidFill>
                            <a:srgbClr val="1E293B"/>
                          </a:solidFill>
                          <a:latin typeface="Calibri"/>
                        </a:defRPr>
                      </a:pPr>
                      <a:r>
                        <a:t>28 ms</a:t>
                      </a:r>
                    </a:p>
                  </a:txBody>
                  <a:tcPr anchor="ctr">
                    <a:solidFill>
                      <a:srgbClr val="FFFFFF"/>
                    </a:solidFill>
                  </a:tcPr>
                </a:tc>
                <a:tc>
                  <a:txBody>
                    <a:bodyPr/>
                    <a:lstStyle/>
                    <a:p>
                      <a:pPr>
                        <a:defRPr sz="900" b="1">
                          <a:solidFill>
                            <a:srgbClr val="16A34A"/>
                          </a:solidFill>
                          <a:latin typeface="Calibri"/>
                        </a:defRPr>
                      </a:pPr>
                      <a:r>
                        <a:t>PASSED</a:t>
                      </a:r>
                    </a:p>
                  </a:txBody>
                  <a:tcPr anchor="ctr">
                    <a:solidFill>
                      <a:srgbClr val="FFFFFF"/>
                    </a:solidFill>
                  </a:tcPr>
                </a:tc>
              </a:tr>
              <a:tr h="388620">
                <a:tc>
                  <a:txBody>
                    <a:bodyPr/>
                    <a:lstStyle/>
                    <a:p>
                      <a:pPr>
                        <a:defRPr sz="900" b="1">
                          <a:solidFill>
                            <a:srgbClr val="0B2545"/>
                          </a:solidFill>
                          <a:latin typeface="Calibri"/>
                        </a:defRPr>
                      </a:pPr>
                      <a:r>
                        <a:t>TEST-02</a:t>
                      </a:r>
                    </a:p>
                  </a:txBody>
                  <a:tcPr anchor="ctr">
                    <a:solidFill>
                      <a:srgbClr val="F0F6FE"/>
                    </a:solidFill>
                  </a:tcPr>
                </a:tc>
                <a:tc>
                  <a:txBody>
                    <a:bodyPr/>
                    <a:lstStyle/>
                    <a:p>
                      <a:pPr>
                        <a:defRPr sz="900">
                          <a:solidFill>
                            <a:srgbClr val="1E293B"/>
                          </a:solidFill>
                          <a:latin typeface="Calibri"/>
                        </a:defRPr>
                      </a:pPr>
                      <a:r>
                        <a:t>Doctor Consultation</a:t>
                      </a:r>
                    </a:p>
                  </a:txBody>
                  <a:tcPr anchor="ctr">
                    <a:solidFill>
                      <a:srgbClr val="F0F6FE"/>
                    </a:solidFill>
                  </a:tcPr>
                </a:tc>
                <a:tc>
                  <a:txBody>
                    <a:bodyPr/>
                    <a:lstStyle/>
                    <a:p>
                      <a:pPr>
                        <a:defRPr sz="900">
                          <a:solidFill>
                            <a:srgbClr val="1E293B"/>
                          </a:solidFill>
                          <a:latin typeface="Calibri"/>
                        </a:defRPr>
                      </a:pPr>
                      <a:r>
                        <a:t>Clinical examination, diagnosis, doctor notes &amp; e-prescription</a:t>
                      </a:r>
                    </a:p>
                  </a:txBody>
                  <a:tcPr anchor="ctr">
                    <a:solidFill>
                      <a:srgbClr val="F0F6FE"/>
                    </a:solidFill>
                  </a:tcPr>
                </a:tc>
                <a:tc>
                  <a:txBody>
                    <a:bodyPr/>
                    <a:lstStyle/>
                    <a:p>
                      <a:pPr>
                        <a:defRPr sz="900">
                          <a:solidFill>
                            <a:srgbClr val="1E293B"/>
                          </a:solidFill>
                          <a:latin typeface="Calibri"/>
                        </a:defRPr>
                      </a:pPr>
                      <a:r>
                        <a:t>34 ms</a:t>
                      </a:r>
                    </a:p>
                  </a:txBody>
                  <a:tcPr anchor="ctr">
                    <a:solidFill>
                      <a:srgbClr val="F0F6FE"/>
                    </a:solidFill>
                  </a:tcPr>
                </a:tc>
                <a:tc>
                  <a:txBody>
                    <a:bodyPr/>
                    <a:lstStyle/>
                    <a:p>
                      <a:pPr>
                        <a:defRPr sz="900" b="1">
                          <a:solidFill>
                            <a:srgbClr val="16A34A"/>
                          </a:solidFill>
                          <a:latin typeface="Calibri"/>
                        </a:defRPr>
                      </a:pPr>
                      <a:r>
                        <a:t>PASSED</a:t>
                      </a:r>
                    </a:p>
                  </a:txBody>
                  <a:tcPr anchor="ctr">
                    <a:solidFill>
                      <a:srgbClr val="F0F6FE"/>
                    </a:solidFill>
                  </a:tcPr>
                </a:tc>
              </a:tr>
              <a:tr h="388620">
                <a:tc>
                  <a:txBody>
                    <a:bodyPr/>
                    <a:lstStyle/>
                    <a:p>
                      <a:pPr>
                        <a:defRPr sz="900" b="1">
                          <a:solidFill>
                            <a:srgbClr val="0B2545"/>
                          </a:solidFill>
                          <a:latin typeface="Calibri"/>
                        </a:defRPr>
                      </a:pPr>
                      <a:r>
                        <a:t>TEST-03</a:t>
                      </a:r>
                    </a:p>
                  </a:txBody>
                  <a:tcPr anchor="ctr">
                    <a:solidFill>
                      <a:srgbClr val="FFFFFF"/>
                    </a:solidFill>
                  </a:tcPr>
                </a:tc>
                <a:tc>
                  <a:txBody>
                    <a:bodyPr/>
                    <a:lstStyle/>
                    <a:p>
                      <a:pPr>
                        <a:defRPr sz="900">
                          <a:solidFill>
                            <a:srgbClr val="1E293B"/>
                          </a:solidFill>
                          <a:latin typeface="Calibri"/>
                        </a:defRPr>
                      </a:pPr>
                      <a:r>
                        <a:t>Pathology Diagnostics</a:t>
                      </a:r>
                    </a:p>
                  </a:txBody>
                  <a:tcPr anchor="ctr">
                    <a:solidFill>
                      <a:srgbClr val="FFFFFF"/>
                    </a:solidFill>
                  </a:tcPr>
                </a:tc>
                <a:tc>
                  <a:txBody>
                    <a:bodyPr/>
                    <a:lstStyle/>
                    <a:p>
                      <a:pPr>
                        <a:defRPr sz="900">
                          <a:solidFill>
                            <a:srgbClr val="1E293B"/>
                          </a:solidFill>
                          <a:latin typeface="Calibri"/>
                        </a:defRPr>
                      </a:pPr>
                      <a:r>
                        <a:t>Lab test catalog, report upload, certification &amp; findings</a:t>
                      </a:r>
                    </a:p>
                  </a:txBody>
                  <a:tcPr anchor="ctr">
                    <a:solidFill>
                      <a:srgbClr val="FFFFFF"/>
                    </a:solidFill>
                  </a:tcPr>
                </a:tc>
                <a:tc>
                  <a:txBody>
                    <a:bodyPr/>
                    <a:lstStyle/>
                    <a:p>
                      <a:pPr>
                        <a:defRPr sz="900">
                          <a:solidFill>
                            <a:srgbClr val="1E293B"/>
                          </a:solidFill>
                          <a:latin typeface="Calibri"/>
                        </a:defRPr>
                      </a:pPr>
                      <a:r>
                        <a:t>41 ms</a:t>
                      </a:r>
                    </a:p>
                  </a:txBody>
                  <a:tcPr anchor="ctr">
                    <a:solidFill>
                      <a:srgbClr val="FFFFFF"/>
                    </a:solidFill>
                  </a:tcPr>
                </a:tc>
                <a:tc>
                  <a:txBody>
                    <a:bodyPr/>
                    <a:lstStyle/>
                    <a:p>
                      <a:pPr>
                        <a:defRPr sz="900" b="1">
                          <a:solidFill>
                            <a:srgbClr val="16A34A"/>
                          </a:solidFill>
                          <a:latin typeface="Calibri"/>
                        </a:defRPr>
                      </a:pPr>
                      <a:r>
                        <a:t>PASSED</a:t>
                      </a:r>
                    </a:p>
                  </a:txBody>
                  <a:tcPr anchor="ctr">
                    <a:solidFill>
                      <a:srgbClr val="FFFFFF"/>
                    </a:solidFill>
                  </a:tcPr>
                </a:tc>
              </a:tr>
              <a:tr h="388620">
                <a:tc>
                  <a:txBody>
                    <a:bodyPr/>
                    <a:lstStyle/>
                    <a:p>
                      <a:pPr>
                        <a:defRPr sz="900" b="1">
                          <a:solidFill>
                            <a:srgbClr val="0B2545"/>
                          </a:solidFill>
                          <a:latin typeface="Calibri"/>
                        </a:defRPr>
                      </a:pPr>
                      <a:r>
                        <a:t>TEST-04</a:t>
                      </a:r>
                    </a:p>
                  </a:txBody>
                  <a:tcPr anchor="ctr">
                    <a:solidFill>
                      <a:srgbClr val="F0F6FE"/>
                    </a:solidFill>
                  </a:tcPr>
                </a:tc>
                <a:tc>
                  <a:txBody>
                    <a:bodyPr/>
                    <a:lstStyle/>
                    <a:p>
                      <a:pPr>
                        <a:defRPr sz="900">
                          <a:solidFill>
                            <a:srgbClr val="1E293B"/>
                          </a:solidFill>
                          <a:latin typeface="Calibri"/>
                        </a:defRPr>
                      </a:pPr>
                      <a:r>
                        <a:t>Fund Allocation Engine</a:t>
                      </a:r>
                    </a:p>
                  </a:txBody>
                  <a:tcPr anchor="ctr">
                    <a:solidFill>
                      <a:srgbClr val="F0F6FE"/>
                    </a:solidFill>
                  </a:tcPr>
                </a:tc>
                <a:tc>
                  <a:txBody>
                    <a:bodyPr/>
                    <a:lstStyle/>
                    <a:p>
                      <a:pPr>
                        <a:defRPr sz="900">
                          <a:solidFill>
                            <a:srgbClr val="1E293B"/>
                          </a:solidFill>
                          <a:latin typeface="Calibri"/>
                        </a:defRPr>
                      </a:pPr>
                      <a:r>
                        <a:t>10/10/5/5/70 multi-provider distribution math with Decimal precision</a:t>
                      </a:r>
                    </a:p>
                  </a:txBody>
                  <a:tcPr anchor="ctr">
                    <a:solidFill>
                      <a:srgbClr val="F0F6FE"/>
                    </a:solidFill>
                  </a:tcPr>
                </a:tc>
                <a:tc>
                  <a:txBody>
                    <a:bodyPr/>
                    <a:lstStyle/>
                    <a:p>
                      <a:pPr>
                        <a:defRPr sz="900">
                          <a:solidFill>
                            <a:srgbClr val="1E293B"/>
                          </a:solidFill>
                          <a:latin typeface="Calibri"/>
                        </a:defRPr>
                      </a:pPr>
                      <a:r>
                        <a:t>22 ms</a:t>
                      </a:r>
                    </a:p>
                  </a:txBody>
                  <a:tcPr anchor="ctr">
                    <a:solidFill>
                      <a:srgbClr val="F0F6FE"/>
                    </a:solidFill>
                  </a:tcPr>
                </a:tc>
                <a:tc>
                  <a:txBody>
                    <a:bodyPr/>
                    <a:lstStyle/>
                    <a:p>
                      <a:pPr>
                        <a:defRPr sz="900" b="1">
                          <a:solidFill>
                            <a:srgbClr val="16A34A"/>
                          </a:solidFill>
                          <a:latin typeface="Calibri"/>
                        </a:defRPr>
                      </a:pPr>
                      <a:r>
                        <a:t>PASSED</a:t>
                      </a:r>
                    </a:p>
                  </a:txBody>
                  <a:tcPr anchor="ctr">
                    <a:solidFill>
                      <a:srgbClr val="F0F6FE"/>
                    </a:solidFill>
                  </a:tcPr>
                </a:tc>
              </a:tr>
              <a:tr h="388620">
                <a:tc>
                  <a:txBody>
                    <a:bodyPr/>
                    <a:lstStyle/>
                    <a:p>
                      <a:pPr>
                        <a:defRPr sz="900" b="1">
                          <a:solidFill>
                            <a:srgbClr val="0B2545"/>
                          </a:solidFill>
                          <a:latin typeface="Calibri"/>
                        </a:defRPr>
                      </a:pPr>
                      <a:r>
                        <a:t>TEST-05</a:t>
                      </a:r>
                    </a:p>
                  </a:txBody>
                  <a:tcPr anchor="ctr">
                    <a:solidFill>
                      <a:srgbClr val="FFFFFF"/>
                    </a:solidFill>
                  </a:tcPr>
                </a:tc>
                <a:tc>
                  <a:txBody>
                    <a:bodyPr/>
                    <a:lstStyle/>
                    <a:p>
                      <a:pPr>
                        <a:defRPr sz="900">
                          <a:solidFill>
                            <a:srgbClr val="1E293B"/>
                          </a:solidFill>
                          <a:latin typeface="Calibri"/>
                        </a:defRPr>
                      </a:pPr>
                      <a:r>
                        <a:t>Centralized Reporting</a:t>
                      </a:r>
                    </a:p>
                  </a:txBody>
                  <a:tcPr anchor="ctr">
                    <a:solidFill>
                      <a:srgbClr val="FFFFFF"/>
                    </a:solidFill>
                  </a:tcPr>
                </a:tc>
                <a:tc>
                  <a:txBody>
                    <a:bodyPr/>
                    <a:lstStyle/>
                    <a:p>
                      <a:pPr>
                        <a:defRPr sz="900">
                          <a:solidFill>
                            <a:srgbClr val="1E293B"/>
                          </a:solidFill>
                          <a:latin typeface="Calibri"/>
                        </a:defRPr>
                      </a:pPr>
                      <a:r>
                        <a:t>Longitudinal record aggregation, ReportLab PDF &amp; CSV streaming</a:t>
                      </a:r>
                    </a:p>
                  </a:txBody>
                  <a:tcPr anchor="ctr">
                    <a:solidFill>
                      <a:srgbClr val="FFFFFF"/>
                    </a:solidFill>
                  </a:tcPr>
                </a:tc>
                <a:tc>
                  <a:txBody>
                    <a:bodyPr/>
                    <a:lstStyle/>
                    <a:p>
                      <a:pPr>
                        <a:defRPr sz="900">
                          <a:solidFill>
                            <a:srgbClr val="1E293B"/>
                          </a:solidFill>
                          <a:latin typeface="Calibri"/>
                        </a:defRPr>
                      </a:pPr>
                      <a:r>
                        <a:t>65 ms</a:t>
                      </a:r>
                    </a:p>
                  </a:txBody>
                  <a:tcPr anchor="ctr">
                    <a:solidFill>
                      <a:srgbClr val="FFFFFF"/>
                    </a:solidFill>
                  </a:tcPr>
                </a:tc>
                <a:tc>
                  <a:txBody>
                    <a:bodyPr/>
                    <a:lstStyle/>
                    <a:p>
                      <a:pPr>
                        <a:defRPr sz="900" b="1">
                          <a:solidFill>
                            <a:srgbClr val="16A34A"/>
                          </a:solidFill>
                          <a:latin typeface="Calibri"/>
                        </a:defRPr>
                      </a:pPr>
                      <a:r>
                        <a:t>PASSED</a:t>
                      </a:r>
                    </a:p>
                  </a:txBody>
                  <a:tcPr anchor="ctr">
                    <a:solidFill>
                      <a:srgbClr val="FFFFFF"/>
                    </a:solidFill>
                  </a:tcPr>
                </a:tc>
              </a:tr>
              <a:tr h="388620">
                <a:tc>
                  <a:txBody>
                    <a:bodyPr/>
                    <a:lstStyle/>
                    <a:p>
                      <a:pPr>
                        <a:defRPr sz="900" b="1">
                          <a:solidFill>
                            <a:srgbClr val="0B2545"/>
                          </a:solidFill>
                          <a:latin typeface="Calibri"/>
                        </a:defRPr>
                      </a:pPr>
                      <a:r>
                        <a:t>TEST-06</a:t>
                      </a:r>
                    </a:p>
                  </a:txBody>
                  <a:tcPr anchor="ctr">
                    <a:solidFill>
                      <a:srgbClr val="F0F6FE"/>
                    </a:solidFill>
                  </a:tcPr>
                </a:tc>
                <a:tc>
                  <a:txBody>
                    <a:bodyPr/>
                    <a:lstStyle/>
                    <a:p>
                      <a:pPr>
                        <a:defRPr sz="900">
                          <a:solidFill>
                            <a:srgbClr val="1E293B"/>
                          </a:solidFill>
                          <a:latin typeface="Calibri"/>
                        </a:defRPr>
                      </a:pPr>
                      <a:r>
                        <a:t>AI Triage &amp; Safety</a:t>
                      </a:r>
                    </a:p>
                  </a:txBody>
                  <a:tcPr anchor="ctr">
                    <a:solidFill>
                      <a:srgbClr val="F0F6FE"/>
                    </a:solidFill>
                  </a:tcPr>
                </a:tc>
                <a:tc>
                  <a:txBody>
                    <a:bodyPr/>
                    <a:lstStyle/>
                    <a:p>
                      <a:pPr>
                        <a:defRPr sz="900">
                          <a:solidFill>
                            <a:srgbClr val="1E293B"/>
                          </a:solidFill>
                          <a:latin typeface="Calibri"/>
                        </a:defRPr>
                      </a:pPr>
                      <a:r>
                        <a:t>Symptom-to-specialty matching &amp; 108 emergency interceptor</a:t>
                      </a:r>
                    </a:p>
                  </a:txBody>
                  <a:tcPr anchor="ctr">
                    <a:solidFill>
                      <a:srgbClr val="F0F6FE"/>
                    </a:solidFill>
                  </a:tcPr>
                </a:tc>
                <a:tc>
                  <a:txBody>
                    <a:bodyPr/>
                    <a:lstStyle/>
                    <a:p>
                      <a:pPr>
                        <a:defRPr sz="900">
                          <a:solidFill>
                            <a:srgbClr val="1E293B"/>
                          </a:solidFill>
                          <a:latin typeface="Calibri"/>
                        </a:defRPr>
                      </a:pPr>
                      <a:r>
                        <a:t>38 ms</a:t>
                      </a:r>
                    </a:p>
                  </a:txBody>
                  <a:tcPr anchor="ctr">
                    <a:solidFill>
                      <a:srgbClr val="F0F6FE"/>
                    </a:solidFill>
                  </a:tcPr>
                </a:tc>
                <a:tc>
                  <a:txBody>
                    <a:bodyPr/>
                    <a:lstStyle/>
                    <a:p>
                      <a:pPr>
                        <a:defRPr sz="900" b="1">
                          <a:solidFill>
                            <a:srgbClr val="16A34A"/>
                          </a:solidFill>
                          <a:latin typeface="Calibri"/>
                        </a:defRPr>
                      </a:pPr>
                      <a:r>
                        <a:t>PASSED</a:t>
                      </a:r>
                    </a:p>
                  </a:txBody>
                  <a:tcPr anchor="ctr">
                    <a:solidFill>
                      <a:srgbClr val="F0F6FE"/>
                    </a:solidFill>
                  </a:tcPr>
                </a:tc>
              </a:tr>
              <a:tr h="388620">
                <a:tc>
                  <a:txBody>
                    <a:bodyPr/>
                    <a:lstStyle/>
                    <a:p>
                      <a:pPr>
                        <a:defRPr sz="900" b="1">
                          <a:solidFill>
                            <a:srgbClr val="0B2545"/>
                          </a:solidFill>
                          <a:latin typeface="Calibri"/>
                        </a:defRPr>
                      </a:pPr>
                      <a:r>
                        <a:t>TEST-07</a:t>
                      </a:r>
                    </a:p>
                  </a:txBody>
                  <a:tcPr anchor="ctr">
                    <a:solidFill>
                      <a:srgbClr val="FFFFFF"/>
                    </a:solidFill>
                  </a:tcPr>
                </a:tc>
                <a:tc>
                  <a:txBody>
                    <a:bodyPr/>
                    <a:lstStyle/>
                    <a:p>
                      <a:pPr>
                        <a:defRPr sz="900">
                          <a:solidFill>
                            <a:srgbClr val="1E293B"/>
                          </a:solidFill>
                          <a:latin typeface="Calibri"/>
                        </a:defRPr>
                      </a:pPr>
                      <a:r>
                        <a:t>Atomic Token Queue</a:t>
                      </a:r>
                    </a:p>
                  </a:txBody>
                  <a:tcPr anchor="ctr">
                    <a:solidFill>
                      <a:srgbClr val="FFFFFF"/>
                    </a:solidFill>
                  </a:tcPr>
                </a:tc>
                <a:tc>
                  <a:txBody>
                    <a:bodyPr/>
                    <a:lstStyle/>
                    <a:p>
                      <a:pPr>
                        <a:defRPr sz="900">
                          <a:solidFill>
                            <a:srgbClr val="1E293B"/>
                          </a:solidFill>
                          <a:latin typeface="Calibri"/>
                        </a:defRPr>
                      </a:pPr>
                      <a:r>
                        <a:t>Pessimistic session lock (`select_for_update`), duplicate race check</a:t>
                      </a:r>
                    </a:p>
                  </a:txBody>
                  <a:tcPr anchor="ctr">
                    <a:solidFill>
                      <a:srgbClr val="FFFFFF"/>
                    </a:solidFill>
                  </a:tcPr>
                </a:tc>
                <a:tc>
                  <a:txBody>
                    <a:bodyPr/>
                    <a:lstStyle/>
                    <a:p>
                      <a:pPr>
                        <a:defRPr sz="900">
                          <a:solidFill>
                            <a:srgbClr val="1E293B"/>
                          </a:solidFill>
                          <a:latin typeface="Calibri"/>
                        </a:defRPr>
                      </a:pPr>
                      <a:r>
                        <a:t>31 ms</a:t>
                      </a:r>
                    </a:p>
                  </a:txBody>
                  <a:tcPr anchor="ctr">
                    <a:solidFill>
                      <a:srgbClr val="FFFFFF"/>
                    </a:solidFill>
                  </a:tcPr>
                </a:tc>
                <a:tc>
                  <a:txBody>
                    <a:bodyPr/>
                    <a:lstStyle/>
                    <a:p>
                      <a:pPr>
                        <a:defRPr sz="900" b="1">
                          <a:solidFill>
                            <a:srgbClr val="16A34A"/>
                          </a:solidFill>
                          <a:latin typeface="Calibri"/>
                        </a:defRPr>
                      </a:pPr>
                      <a:r>
                        <a:t>PASSED</a:t>
                      </a:r>
                    </a:p>
                  </a:txBody>
                  <a:tcPr anchor="ctr">
                    <a:solidFill>
                      <a:srgbClr val="FFFFFF"/>
                    </a:solidFill>
                  </a:tcPr>
                </a:tc>
              </a:tr>
              <a:tr h="388620">
                <a:tc>
                  <a:txBody>
                    <a:bodyPr/>
                    <a:lstStyle/>
                    <a:p>
                      <a:pPr>
                        <a:defRPr sz="900" b="1">
                          <a:solidFill>
                            <a:srgbClr val="0B2545"/>
                          </a:solidFill>
                          <a:latin typeface="Calibri"/>
                        </a:defRPr>
                      </a:pPr>
                      <a:r>
                        <a:t>TEST-08</a:t>
                      </a:r>
                    </a:p>
                  </a:txBody>
                  <a:tcPr anchor="ctr">
                    <a:solidFill>
                      <a:srgbClr val="F0F6FE"/>
                    </a:solidFill>
                  </a:tcPr>
                </a:tc>
                <a:tc>
                  <a:txBody>
                    <a:bodyPr/>
                    <a:lstStyle/>
                    <a:p>
                      <a:pPr>
                        <a:defRPr sz="900">
                          <a:solidFill>
                            <a:srgbClr val="1E293B"/>
                          </a:solidFill>
                          <a:latin typeface="Calibri"/>
                        </a:defRPr>
                      </a:pPr>
                      <a:r>
                        <a:t>Queue Calling Controls</a:t>
                      </a:r>
                    </a:p>
                  </a:txBody>
                  <a:tcPr anchor="ctr">
                    <a:solidFill>
                      <a:srgbClr val="F0F6FE"/>
                    </a:solidFill>
                  </a:tcPr>
                </a:tc>
                <a:tc>
                  <a:txBody>
                    <a:bodyPr/>
                    <a:lstStyle/>
                    <a:p>
                      <a:pPr>
                        <a:defRPr sz="900">
                          <a:solidFill>
                            <a:srgbClr val="1E293B"/>
                          </a:solidFill>
                          <a:latin typeface="Calibri"/>
                        </a:defRPr>
                      </a:pPr>
                      <a:r>
                        <a:t>Doctor state transitions (Waiting -&gt; In Consultation -&gt; Completed)</a:t>
                      </a:r>
                    </a:p>
                  </a:txBody>
                  <a:tcPr anchor="ctr">
                    <a:solidFill>
                      <a:srgbClr val="F0F6FE"/>
                    </a:solidFill>
                  </a:tcPr>
                </a:tc>
                <a:tc>
                  <a:txBody>
                    <a:bodyPr/>
                    <a:lstStyle/>
                    <a:p>
                      <a:pPr>
                        <a:defRPr sz="900">
                          <a:solidFill>
                            <a:srgbClr val="1E293B"/>
                          </a:solidFill>
                          <a:latin typeface="Calibri"/>
                        </a:defRPr>
                      </a:pPr>
                      <a:r>
                        <a:t>29 ms</a:t>
                      </a:r>
                    </a:p>
                  </a:txBody>
                  <a:tcPr anchor="ctr">
                    <a:solidFill>
                      <a:srgbClr val="F0F6FE"/>
                    </a:solidFill>
                  </a:tcPr>
                </a:tc>
                <a:tc>
                  <a:txBody>
                    <a:bodyPr/>
                    <a:lstStyle/>
                    <a:p>
                      <a:pPr>
                        <a:defRPr sz="900" b="1">
                          <a:solidFill>
                            <a:srgbClr val="16A34A"/>
                          </a:solidFill>
                          <a:latin typeface="Calibri"/>
                        </a:defRPr>
                      </a:pPr>
                      <a:r>
                        <a:t>PASSED</a:t>
                      </a:r>
                    </a:p>
                  </a:txBody>
                  <a:tcPr anchor="ctr">
                    <a:solidFill>
                      <a:srgbClr val="F0F6FE"/>
                    </a:solidFill>
                  </a:tcPr>
                </a:tc>
              </a:tr>
              <a:tr h="388620">
                <a:tc>
                  <a:txBody>
                    <a:bodyPr/>
                    <a:lstStyle/>
                    <a:p>
                      <a:pPr>
                        <a:defRPr sz="900" b="1">
                          <a:solidFill>
                            <a:srgbClr val="0B2545"/>
                          </a:solidFill>
                          <a:latin typeface="Calibri"/>
                        </a:defRPr>
                      </a:pPr>
                      <a:r>
                        <a:t>TEST-09</a:t>
                      </a:r>
                    </a:p>
                  </a:txBody>
                  <a:tcPr anchor="ctr">
                    <a:solidFill>
                      <a:srgbClr val="FFFFFF"/>
                    </a:solidFill>
                  </a:tcPr>
                </a:tc>
                <a:tc>
                  <a:txBody>
                    <a:bodyPr/>
                    <a:lstStyle/>
                    <a:p>
                      <a:pPr>
                        <a:defRPr sz="900">
                          <a:solidFill>
                            <a:srgbClr val="1E293B"/>
                          </a:solidFill>
                          <a:latin typeface="Calibri"/>
                        </a:defRPr>
                      </a:pPr>
                      <a:r>
                        <a:t>90% Reserve Ledger</a:t>
                      </a:r>
                    </a:p>
                  </a:txBody>
                  <a:tcPr anchor="ctr">
                    <a:solidFill>
                      <a:srgbClr val="FFFFFF"/>
                    </a:solidFill>
                  </a:tcPr>
                </a:tc>
                <a:tc>
                  <a:txBody>
                    <a:bodyPr/>
                    <a:lstStyle/>
                    <a:p>
                      <a:pPr>
                        <a:defRPr sz="900">
                          <a:solidFill>
                            <a:srgbClr val="1E293B"/>
                          </a:solidFill>
                          <a:latin typeface="Calibri"/>
                        </a:defRPr>
                      </a:pPr>
                      <a:r>
                        <a:t>90% credit calculation, balance persistence, immutable ledger entry</a:t>
                      </a:r>
                    </a:p>
                  </a:txBody>
                  <a:tcPr anchor="ctr">
                    <a:solidFill>
                      <a:srgbClr val="FFFFFF"/>
                    </a:solidFill>
                  </a:tcPr>
                </a:tc>
                <a:tc>
                  <a:txBody>
                    <a:bodyPr/>
                    <a:lstStyle/>
                    <a:p>
                      <a:pPr>
                        <a:defRPr sz="900">
                          <a:solidFill>
                            <a:srgbClr val="1E293B"/>
                          </a:solidFill>
                          <a:latin typeface="Calibri"/>
                        </a:defRPr>
                      </a:pPr>
                      <a:r>
                        <a:t>26 ms</a:t>
                      </a:r>
                    </a:p>
                  </a:txBody>
                  <a:tcPr anchor="ctr">
                    <a:solidFill>
                      <a:srgbClr val="FFFFFF"/>
                    </a:solidFill>
                  </a:tcPr>
                </a:tc>
                <a:tc>
                  <a:txBody>
                    <a:bodyPr/>
                    <a:lstStyle/>
                    <a:p>
                      <a:pPr>
                        <a:defRPr sz="900" b="1">
                          <a:solidFill>
                            <a:srgbClr val="16A34A"/>
                          </a:solidFill>
                          <a:latin typeface="Calibri"/>
                        </a:defRPr>
                      </a:pPr>
                      <a:r>
                        <a:t>PASSED</a:t>
                      </a:r>
                    </a:p>
                  </a:txBody>
                  <a:tcPr anchor="ctr">
                    <a:solidFill>
                      <a:srgbClr val="FFFFFF"/>
                    </a:solidFill>
                  </a:tcPr>
                </a:tc>
              </a:tr>
              <a:tr h="388620">
                <a:tc>
                  <a:txBody>
                    <a:bodyPr/>
                    <a:lstStyle/>
                    <a:p>
                      <a:pPr>
                        <a:defRPr sz="900" b="1">
                          <a:solidFill>
                            <a:srgbClr val="0B2545"/>
                          </a:solidFill>
                          <a:latin typeface="Calibri"/>
                        </a:defRPr>
                      </a:pPr>
                      <a:r>
                        <a:t>TEST-10</a:t>
                      </a:r>
                    </a:p>
                  </a:txBody>
                  <a:tcPr anchor="ctr">
                    <a:solidFill>
                      <a:srgbClr val="F0F6FE"/>
                    </a:solidFill>
                  </a:tcPr>
                </a:tc>
                <a:tc>
                  <a:txBody>
                    <a:bodyPr/>
                    <a:lstStyle/>
                    <a:p>
                      <a:pPr>
                        <a:defRPr sz="900">
                          <a:solidFill>
                            <a:srgbClr val="1E293B"/>
                          </a:solidFill>
                          <a:latin typeface="Calibri"/>
                        </a:defRPr>
                      </a:pPr>
                      <a:r>
                        <a:t>Scheme Pre-Auth</a:t>
                      </a:r>
                    </a:p>
                  </a:txBody>
                  <a:tcPr anchor="ctr">
                    <a:solidFill>
                      <a:srgbClr val="F0F6FE"/>
                    </a:solidFill>
                  </a:tcPr>
                </a:tc>
                <a:tc>
                  <a:txBody>
                    <a:bodyPr/>
                    <a:lstStyle/>
                    <a:p>
                      <a:pPr>
                        <a:defRPr sz="900">
                          <a:solidFill>
                            <a:srgbClr val="1E293B"/>
                          </a:solidFill>
                          <a:latin typeface="Calibri"/>
                        </a:defRPr>
                      </a:pPr>
                      <a:r>
                        <a:t>MJPJAY pre-auth application submission &amp; cashless approval</a:t>
                      </a:r>
                    </a:p>
                  </a:txBody>
                  <a:tcPr anchor="ctr">
                    <a:solidFill>
                      <a:srgbClr val="F0F6FE"/>
                    </a:solidFill>
                  </a:tcPr>
                </a:tc>
                <a:tc>
                  <a:txBody>
                    <a:bodyPr/>
                    <a:lstStyle/>
                    <a:p>
                      <a:pPr>
                        <a:defRPr sz="900">
                          <a:solidFill>
                            <a:srgbClr val="1E293B"/>
                          </a:solidFill>
                          <a:latin typeface="Calibri"/>
                        </a:defRPr>
                      </a:pPr>
                      <a:r>
                        <a:t>33 ms</a:t>
                      </a:r>
                    </a:p>
                  </a:txBody>
                  <a:tcPr anchor="ctr">
                    <a:solidFill>
                      <a:srgbClr val="F0F6FE"/>
                    </a:solidFill>
                  </a:tcPr>
                </a:tc>
                <a:tc>
                  <a:txBody>
                    <a:bodyPr/>
                    <a:lstStyle/>
                    <a:p>
                      <a:pPr>
                        <a:defRPr sz="900" b="1">
                          <a:solidFill>
                            <a:srgbClr val="16A34A"/>
                          </a:solidFill>
                          <a:latin typeface="Calibri"/>
                        </a:defRPr>
                      </a:pPr>
                      <a:r>
                        <a:t>PASSED</a:t>
                      </a:r>
                    </a:p>
                  </a:txBody>
                  <a:tcPr anchor="ctr">
                    <a:solidFill>
                      <a:srgbClr val="F0F6FE"/>
                    </a:solidFill>
                  </a:tcPr>
                </a:tc>
              </a:tr>
              <a:tr h="388620">
                <a:tc>
                  <a:txBody>
                    <a:bodyPr/>
                    <a:lstStyle/>
                    <a:p>
                      <a:pPr>
                        <a:defRPr sz="900" b="1">
                          <a:solidFill>
                            <a:srgbClr val="0B2545"/>
                          </a:solidFill>
                          <a:latin typeface="Calibri"/>
                        </a:defRPr>
                      </a:pPr>
                      <a:r>
                        <a:t>TEST-11</a:t>
                      </a:r>
                    </a:p>
                  </a:txBody>
                  <a:tcPr anchor="ctr">
                    <a:solidFill>
                      <a:srgbClr val="FFFFFF"/>
                    </a:solidFill>
                  </a:tcPr>
                </a:tc>
                <a:tc>
                  <a:txBody>
                    <a:bodyPr/>
                    <a:lstStyle/>
                    <a:p>
                      <a:pPr>
                        <a:defRPr sz="900">
                          <a:solidFill>
                            <a:srgbClr val="1E293B"/>
                          </a:solidFill>
                          <a:latin typeface="Calibri"/>
                        </a:defRPr>
                      </a:pPr>
                      <a:r>
                        <a:t>Multilingual AI &amp; Audit</a:t>
                      </a:r>
                    </a:p>
                  </a:txBody>
                  <a:tcPr anchor="ctr">
                    <a:solidFill>
                      <a:srgbClr val="FFFFFF"/>
                    </a:solidFill>
                  </a:tcPr>
                </a:tc>
                <a:tc>
                  <a:txBody>
                    <a:bodyPr/>
                    <a:lstStyle/>
                    <a:p>
                      <a:pPr>
                        <a:defRPr sz="900">
                          <a:solidFill>
                            <a:srgbClr val="1E293B"/>
                          </a:solidFill>
                          <a:latin typeface="Calibri"/>
                        </a:defRPr>
                      </a:pPr>
                      <a:r>
                        <a:t>EN/HI/MR chatbot triage, AI duplicate claim scanner, financial overview</a:t>
                      </a:r>
                    </a:p>
                  </a:txBody>
                  <a:tcPr anchor="ctr">
                    <a:solidFill>
                      <a:srgbClr val="FFFFFF"/>
                    </a:solidFill>
                  </a:tcPr>
                </a:tc>
                <a:tc>
                  <a:txBody>
                    <a:bodyPr/>
                    <a:lstStyle/>
                    <a:p>
                      <a:pPr>
                        <a:defRPr sz="900">
                          <a:solidFill>
                            <a:srgbClr val="1E293B"/>
                          </a:solidFill>
                          <a:latin typeface="Calibri"/>
                        </a:defRPr>
                      </a:pPr>
                      <a:r>
                        <a:t>48 ms</a:t>
                      </a:r>
                    </a:p>
                  </a:txBody>
                  <a:tcPr anchor="ctr">
                    <a:solidFill>
                      <a:srgbClr val="FFFFFF"/>
                    </a:solidFill>
                  </a:tcPr>
                </a:tc>
                <a:tc>
                  <a:txBody>
                    <a:bodyPr/>
                    <a:lstStyle/>
                    <a:p>
                      <a:pPr>
                        <a:defRPr sz="900" b="1">
                          <a:solidFill>
                            <a:srgbClr val="16A34A"/>
                          </a:solidFill>
                          <a:latin typeface="Calibri"/>
                        </a:defRPr>
                      </a:pPr>
                      <a:r>
                        <a:t>PASSED</a:t>
                      </a:r>
                    </a:p>
                  </a:txBody>
                  <a:tcPr anchor="ctr">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1050" b="1">
                <a:solidFill>
                  <a:srgbClr val="0D9488"/>
                </a:solidFill>
                <a:latin typeface="Calibri"/>
              </a:defRPr>
            </a:pPr>
            <a:r>
              <a:t>CRITICAL EVALUATION &amp; ROADMAP</a:t>
            </a:r>
          </a:p>
          <a:p>
            <a:pPr>
              <a:defRPr sz="2200" b="1">
                <a:solidFill>
                  <a:srgbClr val="0B2545"/>
                </a:solidFill>
                <a:latin typeface="Georgia"/>
              </a:defRPr>
            </a:pPr>
            <a:r>
              <a:t>Current System Limitations &amp; Future Scope</a:t>
            </a:r>
          </a:p>
          <a:p>
            <a:pPr>
              <a:spcBef>
                <a:spcPts val="200"/>
              </a:spcBef>
              <a:defRPr sz="1150">
                <a:solidFill>
                  <a:srgbClr val="475569"/>
                </a:solidFill>
                <a:latin typeface="Calibri"/>
              </a:defRPr>
            </a:pPr>
            <a:r>
              <a:t>Academic honesty regarding simulation boundaries and technical roadmap.</a:t>
            </a:r>
          </a:p>
        </p:txBody>
      </p:sp>
      <p:sp>
        <p:nvSpPr>
          <p:cNvPr id="4" name="Rounded Rectangle 3"/>
          <p:cNvSpPr/>
          <p:nvPr/>
        </p:nvSpPr>
        <p:spPr>
          <a:xfrm>
            <a:off x="731520" y="1645920"/>
            <a:ext cx="5120640"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4754880" cy="4297680"/>
          </a:xfrm>
          <a:prstGeom prst="rect">
            <a:avLst/>
          </a:prstGeom>
          <a:noFill/>
        </p:spPr>
        <p:txBody>
          <a:bodyPr wrap="square">
            <a:spAutoFit/>
          </a:bodyPr>
          <a:lstStyle/>
          <a:p>
            <a:pPr>
              <a:spcAft>
                <a:spcPts val="400"/>
              </a:spcAft>
              <a:defRPr sz="1100" b="1">
                <a:solidFill>
                  <a:srgbClr val="D97706"/>
                </a:solidFill>
                <a:latin typeface="Calibri"/>
              </a:defRPr>
            </a:pPr>
            <a:r>
              <a:t>CURRENT SYSTEM LIMITATIONS</a:t>
            </a:r>
          </a:p>
          <a:p>
            <a:pPr>
              <a:spcAft>
                <a:spcPts val="600"/>
              </a:spcAft>
              <a:defRPr sz="1300" b="1">
                <a:solidFill>
                  <a:srgbClr val="0B2545"/>
                </a:solidFill>
                <a:latin typeface="Georgia"/>
              </a:defRPr>
            </a:pPr>
            <a:r>
              <a:t>Academic &amp; Simulation Boundaries</a:t>
            </a:r>
          </a:p>
          <a:p>
            <a:pPr>
              <a:spcAft>
                <a:spcPts val="100"/>
              </a:spcAft>
              <a:defRPr sz="1050" b="1">
                <a:solidFill>
                  <a:srgbClr val="0B2545"/>
                </a:solidFill>
                <a:latin typeface="Calibri"/>
              </a:defRPr>
            </a:pPr>
            <a:r>
              <a:t>• 1. Financial Simulation Mode</a:t>
            </a:r>
          </a:p>
          <a:p>
            <a:pPr>
              <a:spcAft>
                <a:spcPts val="600"/>
              </a:spcAft>
              <a:defRPr sz="950">
                <a:solidFill>
                  <a:srgbClr val="1E293B"/>
                </a:solidFill>
                <a:latin typeface="Calibri"/>
              </a:defRPr>
            </a:pPr>
            <a:r>
              <a:t>In compliance with Reserve Bank of India (RBI) sandbox regulations, the 90% Healthcare Reserve operates in simulation mode without live banking transfers.</a:t>
            </a:r>
          </a:p>
          <a:p>
            <a:pPr>
              <a:spcAft>
                <a:spcPts val="100"/>
              </a:spcAft>
              <a:defRPr sz="1050" b="1">
                <a:solidFill>
                  <a:srgbClr val="0B2545"/>
                </a:solidFill>
                <a:latin typeface="Calibri"/>
              </a:defRPr>
            </a:pPr>
            <a:r>
              <a:t>• 2. Simulated OTP Dispatch</a:t>
            </a:r>
          </a:p>
          <a:p>
            <a:pPr>
              <a:spcAft>
                <a:spcPts val="600"/>
              </a:spcAft>
              <a:defRPr sz="950">
                <a:solidFill>
                  <a:srgbClr val="1E293B"/>
                </a:solidFill>
                <a:latin typeface="Calibri"/>
              </a:defRPr>
            </a:pPr>
            <a:r>
              <a:t>SMS/Email OTP verification utilizes a deterministic local verification engine rather than a paid commercial SMS gateway API (e.g. Twilio / Fast2SMS).</a:t>
            </a:r>
          </a:p>
          <a:p>
            <a:pPr>
              <a:spcAft>
                <a:spcPts val="100"/>
              </a:spcAft>
              <a:defRPr sz="1050" b="1">
                <a:solidFill>
                  <a:srgbClr val="0B2545"/>
                </a:solidFill>
                <a:latin typeface="Calibri"/>
              </a:defRPr>
            </a:pPr>
            <a:r>
              <a:t>• 3. Local Government Scheme Sandbox</a:t>
            </a:r>
          </a:p>
          <a:p>
            <a:pPr>
              <a:spcAft>
                <a:spcPts val="600"/>
              </a:spcAft>
              <a:defRPr sz="950">
                <a:solidFill>
                  <a:srgbClr val="1E293B"/>
                </a:solidFill>
                <a:latin typeface="Calibri"/>
              </a:defRPr>
            </a:pPr>
            <a:r>
              <a:t>PM-JAY and MJPJAY schemes are managed within our internal government directorate database rather than a live federal API link.</a:t>
            </a:r>
          </a:p>
        </p:txBody>
      </p:sp>
      <p:sp>
        <p:nvSpPr>
          <p:cNvPr id="6" name="Rounded Rectangle 5"/>
          <p:cNvSpPr/>
          <p:nvPr/>
        </p:nvSpPr>
        <p:spPr>
          <a:xfrm>
            <a:off x="6035040" y="1645920"/>
            <a:ext cx="5425135" cy="4663440"/>
          </a:xfrm>
          <a:prstGeom prst="roundRect">
            <a:avLst/>
          </a:prstGeom>
          <a:solidFill>
            <a:srgbClr val="F0F6FE"/>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17920" y="1828800"/>
            <a:ext cx="5059375" cy="4297680"/>
          </a:xfrm>
          <a:prstGeom prst="rect">
            <a:avLst/>
          </a:prstGeom>
          <a:noFill/>
        </p:spPr>
        <p:txBody>
          <a:bodyPr wrap="square">
            <a:spAutoFit/>
          </a:bodyPr>
          <a:lstStyle/>
          <a:p>
            <a:pPr>
              <a:spcAft>
                <a:spcPts val="400"/>
              </a:spcAft>
              <a:defRPr sz="1100" b="1">
                <a:solidFill>
                  <a:srgbClr val="0D9488"/>
                </a:solidFill>
                <a:latin typeface="Calibri"/>
              </a:defRPr>
            </a:pPr>
            <a:r>
              <a:t>FUTURE ENGINEERING ROADMAP</a:t>
            </a:r>
          </a:p>
          <a:p>
            <a:pPr>
              <a:spcAft>
                <a:spcPts val="600"/>
              </a:spcAft>
              <a:defRPr sz="1300" b="1">
                <a:solidFill>
                  <a:srgbClr val="0B2545"/>
                </a:solidFill>
                <a:latin typeface="Georgia"/>
              </a:defRPr>
            </a:pPr>
            <a:r>
              <a:t>Planned Enhancements</a:t>
            </a:r>
          </a:p>
          <a:p>
            <a:pPr>
              <a:spcAft>
                <a:spcPts val="100"/>
              </a:spcAft>
              <a:defRPr sz="1050" b="1">
                <a:solidFill>
                  <a:srgbClr val="134074"/>
                </a:solidFill>
                <a:latin typeface="Calibri"/>
              </a:defRPr>
            </a:pPr>
            <a:r>
              <a:t>• 1. ABHA Federated Identity Integration</a:t>
            </a:r>
          </a:p>
          <a:p>
            <a:pPr>
              <a:spcAft>
                <a:spcPts val="600"/>
              </a:spcAft>
              <a:defRPr sz="950">
                <a:solidFill>
                  <a:srgbClr val="1E293B"/>
                </a:solidFill>
                <a:latin typeface="Calibri"/>
              </a:defRPr>
            </a:pPr>
            <a:r>
              <a:t>Direct synchronization with National Health Authority (NHA) Ayushman Bharat Health Account (ABHA) IDs for pan-India health record portability.</a:t>
            </a:r>
          </a:p>
          <a:p>
            <a:pPr>
              <a:spcAft>
                <a:spcPts val="100"/>
              </a:spcAft>
              <a:defRPr sz="1050" b="1">
                <a:solidFill>
                  <a:srgbClr val="134074"/>
                </a:solidFill>
                <a:latin typeface="Calibri"/>
              </a:defRPr>
            </a:pPr>
            <a:r>
              <a:t>• 2. HL7 / FHIR R4 Standard Conformance</a:t>
            </a:r>
          </a:p>
          <a:p>
            <a:pPr>
              <a:spcAft>
                <a:spcPts val="600"/>
              </a:spcAft>
              <a:defRPr sz="950">
                <a:solidFill>
                  <a:srgbClr val="1E293B"/>
                </a:solidFill>
                <a:latin typeface="Calibri"/>
              </a:defRPr>
            </a:pPr>
            <a:r>
              <a:t>Complete mapping of all prescription and diagnostic endpoints to Fast Healthcare Interoperability Resources (FHIR Release 4B) standard JSON schemas.</a:t>
            </a:r>
          </a:p>
          <a:p>
            <a:pPr>
              <a:spcAft>
                <a:spcPts val="100"/>
              </a:spcAft>
              <a:defRPr sz="1050" b="1">
                <a:solidFill>
                  <a:srgbClr val="134074"/>
                </a:solidFill>
                <a:latin typeface="Calibri"/>
              </a:defRPr>
            </a:pPr>
            <a:r>
              <a:t>• 3. Ethereum L2 Smart Contract Settlement</a:t>
            </a:r>
          </a:p>
          <a:p>
            <a:pPr>
              <a:spcAft>
                <a:spcPts val="600"/>
              </a:spcAft>
              <a:defRPr sz="950">
                <a:solidFill>
                  <a:srgbClr val="1E293B"/>
                </a:solidFill>
                <a:latin typeface="Calibri"/>
              </a:defRPr>
            </a:pPr>
            <a:r>
              <a:t>Deploy decentralized smart contracts on an Ethereum Layer-2 rollup (e.g. Polygon / Arbitrum) for trustless, automated multi-provider fund disbursement.</a:t>
            </a:r>
          </a:p>
          <a:p>
            <a:pPr>
              <a:spcAft>
                <a:spcPts val="100"/>
              </a:spcAft>
              <a:defRPr sz="1050" b="1">
                <a:solidFill>
                  <a:srgbClr val="134074"/>
                </a:solidFill>
                <a:latin typeface="Calibri"/>
              </a:defRPr>
            </a:pPr>
            <a:r>
              <a:t>• 4. IoT Outpatient Telemetry Ingestion</a:t>
            </a:r>
          </a:p>
          <a:p>
            <a:pPr>
              <a:spcAft>
                <a:spcPts val="600"/>
              </a:spcAft>
              <a:defRPr sz="950">
                <a:solidFill>
                  <a:srgbClr val="1E293B"/>
                </a:solidFill>
                <a:latin typeface="Calibri"/>
              </a:defRPr>
            </a:pPr>
            <a:r>
              <a:t>Integrate wearable medical sensors (ECG monitors, pulse oximeters, glucometers) for real-time chronic disease tracking in outpatient care.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1050" b="1">
                <a:solidFill>
                  <a:srgbClr val="0D9488"/>
                </a:solidFill>
                <a:latin typeface="Calibri"/>
              </a:defRPr>
            </a:pPr>
            <a:r>
              <a:t>PROJECT DEFENSE SUMMARY</a:t>
            </a:r>
          </a:p>
          <a:p>
            <a:pPr>
              <a:defRPr sz="2200" b="1">
                <a:solidFill>
                  <a:srgbClr val="0B2545"/>
                </a:solidFill>
                <a:latin typeface="Georgia"/>
              </a:defRPr>
            </a:pPr>
            <a:r>
              <a:t>Conclusion &amp; Key Project Deliverables</a:t>
            </a:r>
          </a:p>
          <a:p>
            <a:pPr>
              <a:spcBef>
                <a:spcPts val="200"/>
              </a:spcBef>
              <a:defRPr sz="1150">
                <a:solidFill>
                  <a:srgbClr val="475569"/>
                </a:solidFill>
                <a:latin typeface="Calibri"/>
              </a:defRPr>
            </a:pPr>
            <a:r>
              <a:t>Summary of engineering achievements and social healthcare impact.</a:t>
            </a:r>
          </a:p>
        </p:txBody>
      </p:sp>
      <p:sp>
        <p:nvSpPr>
          <p:cNvPr id="4" name="Rounded Rectangle 3"/>
          <p:cNvSpPr/>
          <p:nvPr/>
        </p:nvSpPr>
        <p:spPr>
          <a:xfrm>
            <a:off x="731520" y="1645920"/>
            <a:ext cx="5120640" cy="2194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645920"/>
            <a:ext cx="5120640"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4754880" cy="1828800"/>
          </a:xfrm>
          <a:prstGeom prst="rect">
            <a:avLst/>
          </a:prstGeom>
          <a:noFill/>
        </p:spPr>
        <p:txBody>
          <a:bodyPr wrap="square">
            <a:spAutoFit/>
          </a:bodyPr>
          <a:lstStyle/>
          <a:p>
            <a:pPr>
              <a:spcAft>
                <a:spcPts val="800"/>
              </a:spcAft>
              <a:defRPr sz="1300" b="1">
                <a:solidFill>
                  <a:srgbClr val="0B2545"/>
                </a:solidFill>
                <a:latin typeface="Georgia"/>
              </a:defRPr>
            </a:pPr>
            <a:r>
              <a:t>1. Unified Multi-Stakeholder Ecosystem</a:t>
            </a:r>
          </a:p>
          <a:p>
            <a:pPr>
              <a:defRPr sz="1050">
                <a:solidFill>
                  <a:srgbClr val="1E293B"/>
                </a:solidFill>
                <a:latin typeface="Calibri"/>
              </a:defRPr>
            </a:pPr>
            <a:r>
              <a:t>Successfully integrated 6 fragmented healthcare roles (Patient, Doctor, Lab, Pharmacy, Govt, Admin) into a unified, responsive platform with stateless JWT authentication and full audit logging.</a:t>
            </a:r>
          </a:p>
        </p:txBody>
      </p:sp>
      <p:sp>
        <p:nvSpPr>
          <p:cNvPr id="7" name="Rounded Rectangle 6"/>
          <p:cNvSpPr/>
          <p:nvPr/>
        </p:nvSpPr>
        <p:spPr>
          <a:xfrm>
            <a:off x="6339535" y="1645920"/>
            <a:ext cx="5120640" cy="2194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39535" y="1645920"/>
            <a:ext cx="5120640" cy="73152"/>
          </a:xfrm>
          <a:prstGeom prst="rect">
            <a:avLst/>
          </a:prstGeom>
          <a:solidFill>
            <a:srgbClr val="1340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22415" y="1828800"/>
            <a:ext cx="4754880" cy="1828800"/>
          </a:xfrm>
          <a:prstGeom prst="rect">
            <a:avLst/>
          </a:prstGeom>
          <a:noFill/>
        </p:spPr>
        <p:txBody>
          <a:bodyPr wrap="square">
            <a:spAutoFit/>
          </a:bodyPr>
          <a:lstStyle/>
          <a:p>
            <a:pPr>
              <a:spcAft>
                <a:spcPts val="800"/>
              </a:spcAft>
              <a:defRPr sz="1300" b="1">
                <a:solidFill>
                  <a:srgbClr val="0B2545"/>
                </a:solidFill>
                <a:latin typeface="Georgia"/>
              </a:defRPr>
            </a:pPr>
            <a:r>
              <a:t>2. Elimination of Operational Bottlenecks</a:t>
            </a:r>
          </a:p>
          <a:p>
            <a:pPr>
              <a:defRPr sz="1050">
                <a:solidFill>
                  <a:srgbClr val="1E293B"/>
                </a:solidFill>
                <a:latin typeface="Calibri"/>
              </a:defRPr>
            </a:pPr>
            <a:r>
              <a:t>Solved duplicate patient registration through PAN deduplication. Eliminated OPD queue collisions using atomic pessimistic row locking with O(1) allocation complexity.</a:t>
            </a:r>
          </a:p>
        </p:txBody>
      </p:sp>
      <p:sp>
        <p:nvSpPr>
          <p:cNvPr id="10" name="Rounded Rectangle 9"/>
          <p:cNvSpPr/>
          <p:nvPr/>
        </p:nvSpPr>
        <p:spPr>
          <a:xfrm>
            <a:off x="731520" y="4069080"/>
            <a:ext cx="5120640" cy="2194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4069080"/>
            <a:ext cx="5120640" cy="73152"/>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251960"/>
            <a:ext cx="4754880" cy="1828800"/>
          </a:xfrm>
          <a:prstGeom prst="rect">
            <a:avLst/>
          </a:prstGeom>
          <a:noFill/>
        </p:spPr>
        <p:txBody>
          <a:bodyPr wrap="square">
            <a:spAutoFit/>
          </a:bodyPr>
          <a:lstStyle/>
          <a:p>
            <a:pPr>
              <a:spcAft>
                <a:spcPts val="800"/>
              </a:spcAft>
              <a:defRPr sz="1300" b="1">
                <a:solidFill>
                  <a:srgbClr val="0B2545"/>
                </a:solidFill>
                <a:latin typeface="Georgia"/>
              </a:defRPr>
            </a:pPr>
            <a:r>
              <a:t>3. Transparent Financial Equity</a:t>
            </a:r>
          </a:p>
          <a:p>
            <a:pPr>
              <a:defRPr sz="1050">
                <a:solidFill>
                  <a:srgbClr val="1E293B"/>
                </a:solidFill>
                <a:latin typeface="Calibri"/>
              </a:defRPr>
            </a:pPr>
            <a:r>
              <a:t>Built a configurable 5-tier fund distribution engine with Python Decimal precision, alongside an append-only double-entry ledger that buffers 90% of routine spend against future emergencies.</a:t>
            </a:r>
          </a:p>
        </p:txBody>
      </p:sp>
      <p:sp>
        <p:nvSpPr>
          <p:cNvPr id="13" name="Rounded Rectangle 12"/>
          <p:cNvSpPr/>
          <p:nvPr/>
        </p:nvSpPr>
        <p:spPr>
          <a:xfrm>
            <a:off x="6339535" y="4069080"/>
            <a:ext cx="5120640" cy="2194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339535" y="4069080"/>
            <a:ext cx="5120640" cy="7315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22415" y="4251960"/>
            <a:ext cx="4754880" cy="1828800"/>
          </a:xfrm>
          <a:prstGeom prst="rect">
            <a:avLst/>
          </a:prstGeom>
          <a:noFill/>
        </p:spPr>
        <p:txBody>
          <a:bodyPr wrap="square">
            <a:spAutoFit/>
          </a:bodyPr>
          <a:lstStyle/>
          <a:p>
            <a:pPr>
              <a:spcAft>
                <a:spcPts val="800"/>
              </a:spcAft>
              <a:defRPr sz="1300" b="1">
                <a:solidFill>
                  <a:srgbClr val="0B2545"/>
                </a:solidFill>
                <a:latin typeface="Georgia"/>
              </a:defRPr>
            </a:pPr>
            <a:r>
              <a:t>4. Safety-Bounded Clinical Intelligence</a:t>
            </a:r>
          </a:p>
          <a:p>
            <a:pPr>
              <a:defRPr sz="1050">
                <a:solidFill>
                  <a:srgbClr val="1E293B"/>
                </a:solidFill>
                <a:latin typeface="Calibri"/>
              </a:defRPr>
            </a:pPr>
            <a:r>
              <a:t>Engineered an AI clinical triage assistant powered by Google Gemini 1.5, protected by an uncompromised deterministic interceptor redirecting critical emergencies to 108 Ambulance.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731520"/>
            <a:ext cx="6217920" cy="5394960"/>
          </a:xfrm>
          <a:prstGeom prst="roundRect">
            <a:avLst/>
          </a:prstGeom>
          <a:solidFill>
            <a:srgbClr val="134074"/>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914400"/>
            <a:ext cx="5852160" cy="5029200"/>
          </a:xfrm>
          <a:prstGeom prst="rect">
            <a:avLst/>
          </a:prstGeom>
          <a:noFill/>
        </p:spPr>
        <p:txBody>
          <a:bodyPr wrap="square">
            <a:spAutoFit/>
          </a:bodyPr>
          <a:lstStyle/>
          <a:p>
            <a:pPr>
              <a:spcAft>
                <a:spcPts val="600"/>
              </a:spcAft>
              <a:defRPr sz="1100" b="1">
                <a:solidFill>
                  <a:srgbClr val="0D9488"/>
                </a:solidFill>
                <a:latin typeface="Calibri"/>
              </a:defRPr>
            </a:pPr>
            <a:r>
              <a:t>ACADEMIC &amp; REGULATORY REFERENCES</a:t>
            </a:r>
          </a:p>
          <a:p>
            <a:pPr>
              <a:spcAft>
                <a:spcPts val="400"/>
              </a:spcAft>
              <a:defRPr sz="950">
                <a:solidFill>
                  <a:srgbClr val="E2E8F0"/>
                </a:solidFill>
                <a:latin typeface="Calibri"/>
              </a:defRPr>
            </a:pPr>
            <a:r>
              <a:t>1. World Health Organization (WHO), 'Global spending on health: Weather the storm,' Technical Report, Geneva, 2023.</a:t>
            </a:r>
          </a:p>
          <a:p>
            <a:pPr>
              <a:spcAft>
                <a:spcPts val="400"/>
              </a:spcAft>
              <a:defRPr sz="950">
                <a:solidFill>
                  <a:srgbClr val="E2E8F0"/>
                </a:solidFill>
                <a:latin typeface="Calibri"/>
              </a:defRPr>
            </a:pPr>
            <a:r>
              <a:t>2. National Health Authority (NHA), 'Ayushman Bharat PM-JAY Operational Guidelines,' Ministry of Health and Family Welfare, Govt. of India, 2024.</a:t>
            </a:r>
          </a:p>
          <a:p>
            <a:pPr>
              <a:spcAft>
                <a:spcPts val="400"/>
              </a:spcAft>
              <a:defRPr sz="950">
                <a:solidFill>
                  <a:srgbClr val="E2E8F0"/>
                </a:solidFill>
                <a:latin typeface="Calibri"/>
              </a:defRPr>
            </a:pPr>
            <a:r>
              <a:t>3. State Health Society Maharashtra, 'Mahatma Jyotirao Phule Jan Arogya Yojana (MJPJAY): Scheme Manual &amp; Procedural Codes,' Govt. of Maharashtra, 2023.</a:t>
            </a:r>
          </a:p>
          <a:p>
            <a:pPr>
              <a:spcAft>
                <a:spcPts val="400"/>
              </a:spcAft>
              <a:defRPr sz="950">
                <a:solidFill>
                  <a:srgbClr val="E2E8F0"/>
                </a:solidFill>
                <a:latin typeface="Calibri"/>
              </a:defRPr>
            </a:pPr>
            <a:r>
              <a:t>4. Ministry of Health &amp; Family Welfare (MoHFW), 'Digital Information Security in Healthcare Act (DISHA) Draft Legislation,' New Delhi, 2022.</a:t>
            </a:r>
          </a:p>
          <a:p>
            <a:pPr>
              <a:spcAft>
                <a:spcPts val="400"/>
              </a:spcAft>
              <a:defRPr sz="950">
                <a:solidFill>
                  <a:srgbClr val="E2E8F0"/>
                </a:solidFill>
                <a:latin typeface="Calibri"/>
              </a:defRPr>
            </a:pPr>
            <a:r>
              <a:t>5. HL7 International, 'Fast Healthcare Interoperability Resources (FHIR) Release 4B Standard,' Ann Arbor, MI, 2022.</a:t>
            </a:r>
          </a:p>
          <a:p>
            <a:pPr>
              <a:spcAft>
                <a:spcPts val="400"/>
              </a:spcAft>
              <a:defRPr sz="950">
                <a:solidFill>
                  <a:srgbClr val="E2E8F0"/>
                </a:solidFill>
                <a:latin typeface="Calibri"/>
              </a:defRPr>
            </a:pPr>
            <a:r>
              <a:t>6. J. Gray &amp; A. Reuter, 'Transaction Processing: Concepts and Techniques,' Morgan Kaufmann Publishers, San Francisco, CA, 1993.</a:t>
            </a:r>
          </a:p>
        </p:txBody>
      </p:sp>
      <p:sp>
        <p:nvSpPr>
          <p:cNvPr id="5" name="Rounded Rectangle 4"/>
          <p:cNvSpPr/>
          <p:nvPr/>
        </p:nvSpPr>
        <p:spPr>
          <a:xfrm>
            <a:off x="7315200" y="731520"/>
            <a:ext cx="4144975" cy="5394960"/>
          </a:xfrm>
          <a:prstGeom prst="roundRect">
            <a:avLst/>
          </a:prstGeom>
          <a:solidFill>
            <a:srgbClr val="FFFF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0" y="1097280"/>
            <a:ext cx="3596335" cy="4663440"/>
          </a:xfrm>
          <a:prstGeom prst="rect">
            <a:avLst/>
          </a:prstGeom>
          <a:noFill/>
        </p:spPr>
        <p:txBody>
          <a:bodyPr wrap="square">
            <a:spAutoFit/>
          </a:bodyPr>
          <a:lstStyle/>
          <a:p>
            <a:pPr>
              <a:spcAft>
                <a:spcPts val="800"/>
              </a:spcAft>
              <a:defRPr sz="1100" b="1">
                <a:solidFill>
                  <a:srgbClr val="0D9488"/>
                </a:solidFill>
                <a:latin typeface="Calibri"/>
              </a:defRPr>
            </a:pPr>
            <a:r>
              <a:t>PROJECT DEFENSE COMPLETE</a:t>
            </a:r>
          </a:p>
          <a:p>
            <a:pPr>
              <a:spcAft>
                <a:spcPts val="1200"/>
              </a:spcAft>
              <a:defRPr sz="3200" b="1">
                <a:solidFill>
                  <a:srgbClr val="0B2545"/>
                </a:solidFill>
                <a:latin typeface="Georgia"/>
              </a:defRPr>
            </a:pPr>
            <a:r>
              <a:t>Thank You!</a:t>
            </a:r>
          </a:p>
          <a:p>
            <a:pPr>
              <a:spcAft>
                <a:spcPts val="1400"/>
              </a:spcAft>
              <a:defRPr sz="1800" b="1">
                <a:solidFill>
                  <a:srgbClr val="134074"/>
                </a:solidFill>
                <a:latin typeface="Georgia"/>
              </a:defRPr>
            </a:pPr>
            <a:r>
              <a:t>Questions &amp; Discussion</a:t>
            </a:r>
          </a:p>
          <a:p>
            <a:pPr>
              <a:spcAft>
                <a:spcPts val="1600"/>
              </a:spcAft>
              <a:defRPr sz="1100">
                <a:solidFill>
                  <a:srgbClr val="1E293B"/>
                </a:solidFill>
                <a:latin typeface="Calibri"/>
              </a:defRPr>
            </a:pPr>
            <a:r>
              <a:t>• System Codebase &amp; Django REST APIs</a:t>
            </a:r>
            <a:br/>
            <a:r>
              <a:t>• Relational Schema &amp; ACID Constraints</a:t>
            </a:r>
            <a:br/>
            <a:r>
              <a:t>• Atomic Pessimistic Concurrency Algorithm</a:t>
            </a:r>
            <a:br/>
            <a:r>
              <a:t>• 5-Tier Fund Allocation &amp; Reserve Ledger</a:t>
            </a:r>
            <a:br/>
            <a:r>
              <a:t>• Automated Test Suite Execution</a:t>
            </a:r>
          </a:p>
          <a:p>
            <a:pPr>
              <a:defRPr sz="1000" i="1">
                <a:solidFill>
                  <a:srgbClr val="475569"/>
                </a:solidFill>
                <a:latin typeface="Calibri"/>
              </a:defRPr>
            </a:pPr>
            <a:r>
              <a:t>Candidate is ready for technical viva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